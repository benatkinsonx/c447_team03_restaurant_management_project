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embeddedFontLst>
    <p:embeddedFont>
      <p:font typeface="Play"/>
      <p:regular r:id="rId21"/>
      <p:bold r:id="rId22"/>
    </p:embeddedFon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Play-bold.fntdata"/><Relationship Id="rId21" Type="http://schemas.openxmlformats.org/officeDocument/2006/relationships/font" Target="fonts/Play-regular.fntdata"/><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boldItalic.fntdata"/><Relationship Id="rId25" Type="http://schemas.openxmlformats.org/officeDocument/2006/relationships/font" Target="fonts/RobotoMon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Good morning. We are Team 03, and this is our Restaurant Management Project.</a:t>
            </a:r>
            <a:endParaRPr/>
          </a:p>
          <a:p>
            <a:pPr indent="0" lvl="0" marL="0" rtl="0" algn="l">
              <a:lnSpc>
                <a:spcPct val="115000"/>
              </a:lnSpc>
              <a:spcBef>
                <a:spcPts val="1200"/>
              </a:spcBef>
              <a:spcAft>
                <a:spcPts val="0"/>
              </a:spcAft>
              <a:buClr>
                <a:schemeClr val="dk1"/>
              </a:buClr>
              <a:buSzPts val="1100"/>
              <a:buFont typeface="Arial"/>
              <a:buNone/>
            </a:pPr>
            <a:r>
              <a:rPr lang="en-US"/>
              <a:t>The goal of the project was to develop a web application that allows restaurant owners to manage day-to-day online operations while providing customers with a simple self-service experience.</a:t>
            </a:r>
            <a:endParaRPr/>
          </a:p>
          <a:p>
            <a:pPr indent="0" lvl="0" marL="0" rtl="0" algn="l">
              <a:lnSpc>
                <a:spcPct val="115000"/>
              </a:lnSpc>
              <a:spcBef>
                <a:spcPts val="1200"/>
              </a:spcBef>
              <a:spcAft>
                <a:spcPts val="0"/>
              </a:spcAft>
              <a:buClr>
                <a:schemeClr val="dk1"/>
              </a:buClr>
              <a:buSzPts val="1100"/>
              <a:buFont typeface="Arial"/>
              <a:buNone/>
            </a:pPr>
            <a:r>
              <a:rPr lang="en-US"/>
              <a:t>The system includes menu management, online ordering, reservations, user authentication, rewards and voucher functionality, and payment processing.</a:t>
            </a:r>
            <a:endParaRPr/>
          </a:p>
          <a:p>
            <a:pPr indent="0" lvl="0" marL="0" rtl="0" algn="l">
              <a:lnSpc>
                <a:spcPct val="115000"/>
              </a:lnSpc>
              <a:spcBef>
                <a:spcPts val="1200"/>
              </a:spcBef>
              <a:spcAft>
                <a:spcPts val="1200"/>
              </a:spcAft>
              <a:buSzPts val="1100"/>
              <a:buNone/>
            </a:pPr>
            <a:r>
              <a:rPr lang="en-US"/>
              <a:t>From an SRE perspective, we'll also discuss how the application was structured, how we approached reliability and deployment, and where there are opportunities for further production-readiness improvements.</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Our project is a Restaurant Management System designed to help restaurant owners manage their day-to-day online services through a single web application.</a:t>
            </a:r>
            <a:endParaRPr/>
          </a:p>
          <a:p>
            <a:pPr indent="0" lvl="0" marL="0" rtl="0" algn="l">
              <a:lnSpc>
                <a:spcPct val="115000"/>
              </a:lnSpc>
              <a:spcBef>
                <a:spcPts val="1200"/>
              </a:spcBef>
              <a:spcAft>
                <a:spcPts val="0"/>
              </a:spcAft>
              <a:buClr>
                <a:schemeClr val="dk1"/>
              </a:buClr>
              <a:buSzPts val="1100"/>
              <a:buFont typeface="Arial"/>
              <a:buNone/>
            </a:pPr>
            <a:r>
              <a:rPr lang="en-US"/>
              <a:t>The system provides several core capabilities. Customers can browse the restaurant menu, place takeaway orders using a basket system, apply reward vouchers, complete payments through Stripe, and manage reservations.</a:t>
            </a:r>
            <a:endParaRPr/>
          </a:p>
          <a:p>
            <a:pPr indent="0" lvl="0" marL="0" rtl="0" algn="l">
              <a:lnSpc>
                <a:spcPct val="115000"/>
              </a:lnSpc>
              <a:spcBef>
                <a:spcPts val="1200"/>
              </a:spcBef>
              <a:spcAft>
                <a:spcPts val="0"/>
              </a:spcAft>
              <a:buClr>
                <a:schemeClr val="dk1"/>
              </a:buClr>
              <a:buSzPts val="1100"/>
              <a:buFont typeface="Arial"/>
              <a:buNone/>
            </a:pPr>
            <a:r>
              <a:rPr lang="en-US"/>
              <a:t>For restaurant staff and administrators, the application provides menu management functionality, role-based access control, and customer account management. This allows staff to update menu items and maintain restaurant operations through an administrative interface.</a:t>
            </a:r>
            <a:endParaRPr/>
          </a:p>
          <a:p>
            <a:pPr indent="0" lvl="0" marL="0" rtl="0" algn="l">
              <a:lnSpc>
                <a:spcPct val="115000"/>
              </a:lnSpc>
              <a:spcBef>
                <a:spcPts val="1200"/>
              </a:spcBef>
              <a:spcAft>
                <a:spcPts val="0"/>
              </a:spcAft>
              <a:buClr>
                <a:schemeClr val="dk1"/>
              </a:buClr>
              <a:buSzPts val="1100"/>
              <a:buFont typeface="Arial"/>
              <a:buNone/>
            </a:pPr>
            <a:r>
              <a:rPr lang="en-US"/>
              <a:t>The application also includes authentication and authorization mechanisms to ensure users only have access to features appropriate for their role.</a:t>
            </a:r>
            <a:endParaRPr/>
          </a:p>
          <a:p>
            <a:pPr indent="0" lvl="0" marL="0" rtl="0" algn="l">
              <a:spcBef>
                <a:spcPts val="1200"/>
              </a:spcBef>
              <a:spcAft>
                <a:spcPts val="0"/>
              </a:spcAft>
              <a:buNone/>
            </a:pPr>
            <a:r>
              <a:t/>
            </a:r>
            <a:endParaRPr/>
          </a:p>
        </p:txBody>
      </p:sp>
      <p:sp>
        <p:nvSpPr>
          <p:cNvPr id="37" name="Google Shape;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ERD shows how we organised the data for the restaurant management system. The database supports customer accounts, reservations, menu management, ordering, payments and rewards. </a:t>
            </a:r>
            <a:endParaRPr/>
          </a:p>
          <a:p>
            <a:pPr indent="0" lvl="0" marL="0" rtl="0" algn="l">
              <a:spcBef>
                <a:spcPts val="0"/>
              </a:spcBef>
              <a:spcAft>
                <a:spcPts val="0"/>
              </a:spcAft>
              <a:buNone/>
            </a:pPr>
            <a:r>
              <a:rPr lang="en-US"/>
              <a:t>The Users table is the central entity because most system functionality revolves around a customer account. A user can place orders, make reservations, complete payments and redeem rewards</a:t>
            </a:r>
            <a:endParaRPr/>
          </a:p>
          <a:p>
            <a:pPr indent="0" lvl="0" marL="0" rtl="0" algn="l">
              <a:spcBef>
                <a:spcPts val="0"/>
              </a:spcBef>
              <a:spcAft>
                <a:spcPts val="0"/>
              </a:spcAft>
              <a:buNone/>
            </a:pPr>
            <a:r>
              <a:rPr lang="en-US"/>
              <a:t>On the left side we have the reservation system. A user can create many reservations, and each reservation is assigned to a restaurant table. This allows us to track booking dates, times and table capacity.</a:t>
            </a:r>
            <a:endParaRPr/>
          </a:p>
          <a:p>
            <a:pPr indent="0" lvl="0" marL="0" rtl="0" algn="l">
              <a:spcBef>
                <a:spcPts val="0"/>
              </a:spcBef>
              <a:spcAft>
                <a:spcPts val="0"/>
              </a:spcAft>
              <a:buNone/>
            </a:pPr>
            <a:r>
              <a:rPr lang="en-US"/>
              <a:t>The second major area is the ordering workflow. A user can place many orders. Each order contains multiple order items, which connect orders to menu items. This is a many-to-many relationship resolved through the OrderItems table. Payments are linked to orders so we can track transaction history and payment status.</a:t>
            </a:r>
            <a:endParaRPr/>
          </a:p>
          <a:p>
            <a:pPr indent="0" lvl="0" marL="0" rtl="0" algn="l">
              <a:spcBef>
                <a:spcPts val="0"/>
              </a:spcBef>
              <a:spcAft>
                <a:spcPts val="0"/>
              </a:spcAft>
              <a:buNone/>
            </a:pPr>
            <a:r>
              <a:rPr lang="en-US"/>
              <a:t>The final area is the rewards system. Rewards define available vouchers or discounts, while the Redeemed table records when users actually redeem them. One reward can be redeemed many times by different customers.</a:t>
            </a:r>
            <a:endParaRPr/>
          </a:p>
          <a:p>
            <a:pPr indent="0" lvl="0" marL="0" rtl="0" algn="l">
              <a:spcBef>
                <a:spcPts val="0"/>
              </a:spcBef>
              <a:spcAft>
                <a:spcPts val="0"/>
              </a:spcAft>
              <a:buNone/>
            </a:pPr>
            <a:r>
              <a:rPr lang="en-US"/>
              <a:t>In order to maintain referential integrity our database design uses foreign keys.</a:t>
            </a:r>
            <a:endParaRPr/>
          </a:p>
        </p:txBody>
      </p:sp>
      <p:sp>
        <p:nvSpPr>
          <p:cNvPr id="46" name="Google Shape;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diagram shows the two main user journeys through our application. When a user visits the website, they can either browse the menu as a guest or log in to access additional functionality. Once authenticated, the system checks their role and presents different capabilities depending on whether they are a customer or an administrator.</a:t>
            </a:r>
            <a:endParaRPr/>
          </a:p>
          <a:p>
            <a:pPr indent="0" lvl="0" marL="0" rtl="0" algn="l">
              <a:lnSpc>
                <a:spcPct val="115000"/>
              </a:lnSpc>
              <a:spcBef>
                <a:spcPts val="1200"/>
              </a:spcBef>
              <a:spcAft>
                <a:spcPts val="0"/>
              </a:spcAft>
              <a:buClr>
                <a:schemeClr val="dk1"/>
              </a:buClr>
              <a:buSzPts val="1100"/>
              <a:buFont typeface="Arial"/>
              <a:buNone/>
            </a:pPr>
            <a:r>
              <a:rPr lang="en-US"/>
              <a:t>For customers, the workflow focuses on the ordering process. They can browse menu items, add products to their basket, and proceed through checkout. During checkout, they can redeem reward vouchers, select delivery options, complete payment through Stripe, and view their payment history after purchases.</a:t>
            </a:r>
            <a:endParaRPr/>
          </a:p>
          <a:p>
            <a:pPr indent="0" lvl="0" marL="0" rtl="0" algn="l">
              <a:lnSpc>
                <a:spcPct val="115000"/>
              </a:lnSpc>
              <a:spcBef>
                <a:spcPts val="1200"/>
              </a:spcBef>
              <a:spcAft>
                <a:spcPts val="0"/>
              </a:spcAft>
              <a:buClr>
                <a:schemeClr val="dk1"/>
              </a:buClr>
              <a:buSzPts val="1100"/>
              <a:buFont typeface="Arial"/>
              <a:buNone/>
            </a:pPr>
            <a:r>
              <a:rPr lang="en-US"/>
              <a:t>For administrators, the workflow focuses on managing restaurant operations. Administrators can view all menu items, add new products, edit existing items, and remove unavailable items. Any changes are saved directly to the database and become immediately visible to customers.</a:t>
            </a:r>
            <a:endParaRPr/>
          </a:p>
          <a:p>
            <a:pPr indent="0" lvl="0" marL="0" rtl="0" algn="l">
              <a:lnSpc>
                <a:spcPct val="115000"/>
              </a:lnSpc>
              <a:spcBef>
                <a:spcPts val="1200"/>
              </a:spcBef>
              <a:spcAft>
                <a:spcPts val="0"/>
              </a:spcAft>
              <a:buClr>
                <a:schemeClr val="dk1"/>
              </a:buClr>
              <a:buSzPts val="1100"/>
              <a:buFont typeface="Arial"/>
              <a:buNone/>
            </a:pPr>
            <a:r>
              <a:rPr lang="en-US"/>
              <a:t>This role-based workflow helps keep the application simple and secure by ensuring users only see the functionality relevant to their role.</a:t>
            </a:r>
            <a:endParaRPr/>
          </a:p>
          <a:p>
            <a:pPr indent="0" lvl="0" marL="0" rtl="0" algn="l">
              <a:spcBef>
                <a:spcPts val="1200"/>
              </a:spcBef>
              <a:spcAft>
                <a:spcPts val="0"/>
              </a:spcAft>
              <a:buNone/>
            </a:pPr>
            <a:r>
              <a:t/>
            </a:r>
            <a:endParaRPr/>
          </a:p>
        </p:txBody>
      </p:sp>
      <p:sp>
        <p:nvSpPr>
          <p:cNvPr id="55" name="Google Shape;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diagram shows the high-level architecture of our application and how the different components interact.</a:t>
            </a:r>
            <a:endParaRPr/>
          </a:p>
          <a:p>
            <a:pPr indent="0" lvl="0" marL="0" rtl="0" algn="l">
              <a:lnSpc>
                <a:spcPct val="115000"/>
              </a:lnSpc>
              <a:spcBef>
                <a:spcPts val="1200"/>
              </a:spcBef>
              <a:spcAft>
                <a:spcPts val="0"/>
              </a:spcAft>
              <a:buClr>
                <a:schemeClr val="dk1"/>
              </a:buClr>
              <a:buSzPts val="1100"/>
              <a:buFont typeface="Arial"/>
              <a:buNone/>
            </a:pPr>
            <a:r>
              <a:rPr lang="en-US"/>
              <a:t>Both customers and administrators access the system through the Flask application, which acts as the central entry point. Within the application, functionality is separated into route modules based on responsibility. Authentication routes handle login and account management, menu and basket routes manage menu browsing and ordering, and checkout routes handle payment processing and order completion.</a:t>
            </a:r>
            <a:endParaRPr/>
          </a:p>
          <a:p>
            <a:pPr indent="0" lvl="0" marL="0" rtl="0" algn="l">
              <a:lnSpc>
                <a:spcPct val="115000"/>
              </a:lnSpc>
              <a:spcBef>
                <a:spcPts val="1200"/>
              </a:spcBef>
              <a:spcAft>
                <a:spcPts val="0"/>
              </a:spcAft>
              <a:buClr>
                <a:schemeClr val="dk1"/>
              </a:buClr>
              <a:buSzPts val="1100"/>
              <a:buFont typeface="Arial"/>
              <a:buNone/>
            </a:pPr>
            <a:r>
              <a:rPr lang="en-US"/>
              <a:t>These routes interact with Jinja templates to render the user interface and communicate with the MySQL database to store and retrieve application data such as users, menu items, orders, reservations, and payments.</a:t>
            </a:r>
            <a:endParaRPr/>
          </a:p>
          <a:p>
            <a:pPr indent="0" lvl="0" marL="0" rtl="0" algn="l">
              <a:lnSpc>
                <a:spcPct val="115000"/>
              </a:lnSpc>
              <a:spcBef>
                <a:spcPts val="1200"/>
              </a:spcBef>
              <a:spcAft>
                <a:spcPts val="0"/>
              </a:spcAft>
              <a:buClr>
                <a:schemeClr val="dk1"/>
              </a:buClr>
              <a:buSzPts val="1100"/>
              <a:buFont typeface="Arial"/>
              <a:buNone/>
            </a:pPr>
            <a:r>
              <a:rPr lang="en-US"/>
              <a:t>The checkout component also integrates with Stripe through the Payment Intent API, allowing payments to be processed securely without storing card details within the application.</a:t>
            </a:r>
            <a:endParaRPr/>
          </a:p>
          <a:p>
            <a:pPr indent="0" lvl="0" marL="0" rtl="0" algn="l">
              <a:lnSpc>
                <a:spcPct val="115000"/>
              </a:lnSpc>
              <a:spcBef>
                <a:spcPts val="1200"/>
              </a:spcBef>
              <a:spcAft>
                <a:spcPts val="1200"/>
              </a:spcAft>
              <a:buSzPts val="1100"/>
              <a:buNone/>
            </a:pPr>
            <a:r>
              <a:rPr lang="en-US"/>
              <a:t>Finally, the application is containerised using Docker and deployed through Kubernetes, which provides a consistent deployment environment and improves scalability and maintainability.</a:t>
            </a:r>
            <a:endParaRPr/>
          </a:p>
        </p:txBody>
      </p:sp>
      <p:sp>
        <p:nvSpPr>
          <p:cNvPr id="64" name="Google Shape;6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We conducted the project using an agile framework, breaking it </a:t>
            </a:r>
            <a:r>
              <a:rPr lang="en-US"/>
              <a:t>down into 4 sprints</a:t>
            </a:r>
            <a:endParaRPr/>
          </a:p>
          <a:p>
            <a:pPr indent="0" lvl="0" marL="0" rtl="0" algn="l">
              <a:lnSpc>
                <a:spcPct val="115000"/>
              </a:lnSpc>
              <a:spcBef>
                <a:spcPts val="1200"/>
              </a:spcBef>
              <a:spcAft>
                <a:spcPts val="0"/>
              </a:spcAft>
              <a:buClr>
                <a:schemeClr val="dk1"/>
              </a:buClr>
              <a:buSzPts val="1100"/>
              <a:buFont typeface="Arial"/>
              <a:buNone/>
            </a:pPr>
            <a:r>
              <a:rPr lang="en-US"/>
              <a:t>"Sprint 1 focused on building the foundation of the system, including the database schema, Flask application structure, templates and routing. The goal here was to ensure the database connected successfully and the schema loaded correctly."</a:t>
            </a:r>
            <a:endParaRPr/>
          </a:p>
          <a:p>
            <a:pPr indent="0" lvl="0" marL="0" rtl="0" algn="l">
              <a:lnSpc>
                <a:spcPct val="115000"/>
              </a:lnSpc>
              <a:spcBef>
                <a:spcPts val="1200"/>
              </a:spcBef>
              <a:spcAft>
                <a:spcPts val="0"/>
              </a:spcAft>
              <a:buClr>
                <a:schemeClr val="dk1"/>
              </a:buClr>
              <a:buSzPts val="1100"/>
              <a:buFont typeface="Arial"/>
              <a:buNone/>
            </a:pPr>
            <a:r>
              <a:rPr lang="en-US"/>
              <a:t>"Sprint 2 focused on the core customer journeys, such as registration and login, menu browsing, basket functionality and reservations. The success criteria for this sprint was that these key user journeys were functional and testable."</a:t>
            </a:r>
            <a:endParaRPr/>
          </a:p>
          <a:p>
            <a:pPr indent="0" lvl="0" marL="0" rtl="0" algn="l">
              <a:lnSpc>
                <a:spcPct val="115000"/>
              </a:lnSpc>
              <a:spcBef>
                <a:spcPts val="1200"/>
              </a:spcBef>
              <a:spcAft>
                <a:spcPts val="0"/>
              </a:spcAft>
              <a:buClr>
                <a:schemeClr val="dk1"/>
              </a:buClr>
              <a:buSzPts val="1100"/>
              <a:buFont typeface="Arial"/>
              <a:buNone/>
            </a:pPr>
            <a:r>
              <a:rPr lang="en-US"/>
              <a:t>"Sprint 3 introduced business-critical functionality, including vouchers, Stripe payments and payment history. At this stage, we needed to ensure that orders, payments and rewards were processed correctly and recorded reliably."</a:t>
            </a:r>
            <a:endParaRPr/>
          </a:p>
          <a:p>
            <a:pPr indent="0" lvl="0" marL="0" rtl="0" algn="l">
              <a:lnSpc>
                <a:spcPct val="115000"/>
              </a:lnSpc>
              <a:spcBef>
                <a:spcPts val="1200"/>
              </a:spcBef>
              <a:spcAft>
                <a:spcPts val="1200"/>
              </a:spcAft>
              <a:buSzPts val="1100"/>
              <a:buNone/>
            </a:pPr>
            <a:r>
              <a:rPr lang="en-US"/>
              <a:t>"Finally, Sprint 4 focused on deployment using Docker and Kubernetes. The application was containerised and deployed using Kubernetes manifests, with the goal of achieving a repeatable and consistent deployment process.</a:t>
            </a:r>
            <a:endParaRPr/>
          </a:p>
        </p:txBody>
      </p:sp>
      <p:sp>
        <p:nvSpPr>
          <p:cNvPr id="105" name="Google Shape;10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handoff point from person 1 to person 2. Emphasize that the project is understandable as layers, then the next section dives into data relationships and implementation flows.</a:t>
            </a:r>
            <a:endParaRPr/>
          </a:p>
        </p:txBody>
      </p:sp>
      <p:sp>
        <p:nvSpPr>
          <p:cNvPr id="135" name="Google Shape;13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slide to show what the UI is trying to communicate visually: premium dining, confidence, and an ordering/booking system that feels customer-facing rather than just database-driven.</a:t>
            </a:r>
            <a:endParaRPr/>
          </a:p>
        </p:txBody>
      </p:sp>
      <p:sp>
        <p:nvSpPr>
          <p:cNvPr id="146" name="Google Shape;1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This slide shows two important implementation decisions in the project."</a:t>
            </a:r>
            <a:endParaRPr sz="1100"/>
          </a:p>
          <a:p>
            <a:pPr indent="0" lvl="0" marL="0" rtl="0" algn="l">
              <a:lnSpc>
                <a:spcPct val="115000"/>
              </a:lnSpc>
              <a:spcBef>
                <a:spcPts val="1200"/>
              </a:spcBef>
              <a:spcAft>
                <a:spcPts val="0"/>
              </a:spcAft>
              <a:buClr>
                <a:schemeClr val="dk1"/>
              </a:buClr>
              <a:buSzPts val="1100"/>
              <a:buFont typeface="Arial"/>
              <a:buNone/>
            </a:pPr>
            <a:r>
              <a:rPr lang="en-US" sz="1100"/>
              <a:t>"On the left, </a:t>
            </a:r>
            <a:r>
              <a:rPr lang="en-US" sz="1100">
                <a:solidFill>
                  <a:srgbClr val="188038"/>
                </a:solidFill>
                <a:latin typeface="Roboto Mono"/>
                <a:ea typeface="Roboto Mono"/>
                <a:cs typeface="Roboto Mono"/>
                <a:sym typeface="Roboto Mono"/>
              </a:rPr>
              <a:t>app.py</a:t>
            </a:r>
            <a:r>
              <a:rPr lang="en-US" sz="1100"/>
              <a:t> acts as the entry point of the application. Rather than placing all functionality in a single file, we separate the system into blueprints for authentication, menu management, checkout, bookings and administration. This creates clear service boundaries and makes the application easier to maintain and extend."</a:t>
            </a:r>
            <a:endParaRPr sz="1100"/>
          </a:p>
          <a:p>
            <a:pPr indent="0" lvl="0" marL="0" rtl="0" algn="l">
              <a:lnSpc>
                <a:spcPct val="115000"/>
              </a:lnSpc>
              <a:spcBef>
                <a:spcPts val="1200"/>
              </a:spcBef>
              <a:spcAft>
                <a:spcPts val="0"/>
              </a:spcAft>
              <a:buClr>
                <a:schemeClr val="dk1"/>
              </a:buClr>
              <a:buSzPts val="1100"/>
              <a:buFont typeface="Arial"/>
              <a:buNone/>
            </a:pPr>
            <a:r>
              <a:rPr lang="en-US" sz="1100"/>
              <a:t>"On the right, the database connection is configured using environment variables rather than hard-coded values. Database credentials, hostnames and ports are loaded from the environment when the application starts."</a:t>
            </a:r>
            <a:endParaRPr sz="1100"/>
          </a:p>
          <a:p>
            <a:pPr indent="0" lvl="0" marL="0" rtl="0" algn="l">
              <a:lnSpc>
                <a:spcPct val="115000"/>
              </a:lnSpc>
              <a:spcBef>
                <a:spcPts val="1200"/>
              </a:spcBef>
              <a:spcAft>
                <a:spcPts val="0"/>
              </a:spcAft>
              <a:buClr>
                <a:schemeClr val="dk1"/>
              </a:buClr>
              <a:buSzPts val="1100"/>
              <a:buFont typeface="Arial"/>
              <a:buNone/>
            </a:pPr>
            <a:r>
              <a:rPr lang="en-US" sz="1100"/>
              <a:t>"This is important because it allows different configurations to be used for development, testing and production without changing the source code. It also integrates well with Docker and Kubernetes, where environment variables and secrets are commonly used for configuration management."</a:t>
            </a:r>
            <a:endParaRPr sz="1100"/>
          </a:p>
          <a:p>
            <a:pPr indent="0" lvl="0" marL="0" rtl="0" algn="l">
              <a:lnSpc>
                <a:spcPct val="115000"/>
              </a:lnSpc>
              <a:spcBef>
                <a:spcPts val="1200"/>
              </a:spcBef>
              <a:spcAft>
                <a:spcPts val="1200"/>
              </a:spcAft>
              <a:buSzPts val="1100"/>
              <a:buNone/>
            </a:pPr>
            <a:r>
              <a:rPr lang="en-US" sz="1100"/>
              <a:t>"From an SRE perspective, this improves deployment consistency.</a:t>
            </a:r>
            <a:endParaRPr/>
          </a:p>
        </p:txBody>
      </p:sp>
      <p:sp>
        <p:nvSpPr>
          <p:cNvPr id="159" name="Google Shape;15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code snippet shows part of the user registration workflow. Before an account is created, the system validates the submitted data and hashes the user's password before storing it in the database. This means the original password is never stored directly, reducing the risk of credential exposure if the database were compromised."</a:t>
            </a:r>
            <a:endParaRPr/>
          </a:p>
          <a:p>
            <a:pPr indent="0" lvl="0" marL="0" rtl="0" algn="l">
              <a:lnSpc>
                <a:spcPct val="115000"/>
              </a:lnSpc>
              <a:spcBef>
                <a:spcPts val="1200"/>
              </a:spcBef>
              <a:spcAft>
                <a:spcPts val="0"/>
              </a:spcAft>
              <a:buClr>
                <a:schemeClr val="dk1"/>
              </a:buClr>
              <a:buSzPts val="1100"/>
              <a:buFont typeface="Arial"/>
              <a:buNone/>
            </a:pPr>
            <a:r>
              <a:rPr lang="en-US"/>
              <a:t>"The registration process also creates records in multiple tables, such as Address and Users. If an error occurs during this process, the transaction is rolled back. This prevents partial writes, where an address might be created without a corresponding user account."</a:t>
            </a:r>
            <a:endParaRPr/>
          </a:p>
          <a:p>
            <a:pPr indent="0" lvl="0" marL="0" rtl="0" algn="l">
              <a:lnSpc>
                <a:spcPct val="115000"/>
              </a:lnSpc>
              <a:spcBef>
                <a:spcPts val="1200"/>
              </a:spcBef>
              <a:spcAft>
                <a:spcPts val="0"/>
              </a:spcAft>
              <a:buClr>
                <a:schemeClr val="dk1"/>
              </a:buClr>
              <a:buSzPts val="1100"/>
              <a:buFont typeface="Arial"/>
              <a:buNone/>
            </a:pPr>
            <a:r>
              <a:rPr lang="en-US"/>
              <a:t>"The use of parameterized SQL statements also helps protect against SQL injection by separating user input from the query structure."</a:t>
            </a:r>
            <a:endParaRPr/>
          </a:p>
          <a:p>
            <a:pPr indent="0" lvl="0" marL="0" rtl="0" algn="l">
              <a:lnSpc>
                <a:spcPct val="115000"/>
              </a:lnSpc>
              <a:spcBef>
                <a:spcPts val="1200"/>
              </a:spcBef>
              <a:spcAft>
                <a:spcPts val="0"/>
              </a:spcAft>
              <a:buClr>
                <a:schemeClr val="dk1"/>
              </a:buClr>
              <a:buSzPts val="1100"/>
              <a:buFont typeface="Arial"/>
              <a:buNone/>
            </a:pPr>
            <a:r>
              <a:rPr lang="en-US"/>
              <a:t>"From a reliability and security perspective, these measures help maintain data integrity and protect user information."</a:t>
            </a:r>
            <a:endParaRPr/>
          </a:p>
          <a:p>
            <a:pPr indent="0" lvl="0" marL="0" rtl="0" algn="l">
              <a:spcBef>
                <a:spcPts val="1200"/>
              </a:spcBef>
              <a:spcAft>
                <a:spcPts val="0"/>
              </a:spcAft>
              <a:buNone/>
            </a:pPr>
            <a:r>
              <a:t/>
            </a:r>
            <a:endParaRPr/>
          </a:p>
        </p:txBody>
      </p:sp>
      <p:sp>
        <p:nvSpPr>
          <p:cNvPr id="171" name="Google Shape;17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c02a53576_2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ec02a53576_2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code snippet shows part of the user registration workflow. Before an account is created, the system validates the submitted data and hashes the user's password before storing it in the database. This means the original password is never stored directly, reducing the risk of credential exposure if the database were compromised."</a:t>
            </a:r>
            <a:endParaRPr/>
          </a:p>
          <a:p>
            <a:pPr indent="0" lvl="0" marL="0" rtl="0" algn="l">
              <a:lnSpc>
                <a:spcPct val="115000"/>
              </a:lnSpc>
              <a:spcBef>
                <a:spcPts val="1200"/>
              </a:spcBef>
              <a:spcAft>
                <a:spcPts val="0"/>
              </a:spcAft>
              <a:buClr>
                <a:schemeClr val="dk1"/>
              </a:buClr>
              <a:buSzPts val="1100"/>
              <a:buFont typeface="Arial"/>
              <a:buNone/>
            </a:pPr>
            <a:r>
              <a:rPr lang="en-US"/>
              <a:t>"The registration process also creates records in multiple tables, such as Address and Users. If an error occurs during this process, the transaction is rolled back. This prevents partial writes, where an address might be created without a corresponding user account."</a:t>
            </a:r>
            <a:endParaRPr/>
          </a:p>
          <a:p>
            <a:pPr indent="0" lvl="0" marL="0" rtl="0" algn="l">
              <a:lnSpc>
                <a:spcPct val="115000"/>
              </a:lnSpc>
              <a:spcBef>
                <a:spcPts val="1200"/>
              </a:spcBef>
              <a:spcAft>
                <a:spcPts val="0"/>
              </a:spcAft>
              <a:buClr>
                <a:schemeClr val="dk1"/>
              </a:buClr>
              <a:buSzPts val="1100"/>
              <a:buFont typeface="Arial"/>
              <a:buNone/>
            </a:pPr>
            <a:r>
              <a:rPr lang="en-US"/>
              <a:t>"The use of parameterized SQL statements also helps protect against SQL injection by separating user input from the query structure."</a:t>
            </a:r>
            <a:endParaRPr/>
          </a:p>
          <a:p>
            <a:pPr indent="0" lvl="0" marL="0" rtl="0" algn="l">
              <a:lnSpc>
                <a:spcPct val="115000"/>
              </a:lnSpc>
              <a:spcBef>
                <a:spcPts val="1200"/>
              </a:spcBef>
              <a:spcAft>
                <a:spcPts val="0"/>
              </a:spcAft>
              <a:buClr>
                <a:schemeClr val="dk1"/>
              </a:buClr>
              <a:buSzPts val="1100"/>
              <a:buFont typeface="Arial"/>
              <a:buNone/>
            </a:pPr>
            <a:r>
              <a:rPr lang="en-US"/>
              <a:t>"From a reliability and security perspective, these measures help maintain data integrity and protect user information."</a:t>
            </a:r>
            <a:endParaRPr/>
          </a:p>
          <a:p>
            <a:pPr indent="0" lvl="0" marL="0" rtl="0" algn="l">
              <a:spcBef>
                <a:spcPts val="1200"/>
              </a:spcBef>
              <a:spcAft>
                <a:spcPts val="0"/>
              </a:spcAft>
              <a:buNone/>
            </a:pPr>
            <a:r>
              <a:t/>
            </a:r>
            <a:endParaRPr/>
          </a:p>
        </p:txBody>
      </p:sp>
      <p:sp>
        <p:nvSpPr>
          <p:cNvPr id="184" name="Google Shape;184;g3ec02a53576_2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"This slide shows the checkout and payment workflow</a:t>
            </a:r>
            <a:endParaRPr/>
          </a:p>
          <a:p>
            <a:pPr indent="0" lvl="0" marL="0" rtl="0" algn="l">
              <a:lnSpc>
                <a:spcPct val="115000"/>
              </a:lnSpc>
              <a:spcBef>
                <a:spcPts val="1200"/>
              </a:spcBef>
              <a:spcAft>
                <a:spcPts val="0"/>
              </a:spcAft>
              <a:buClr>
                <a:schemeClr val="dk1"/>
              </a:buClr>
              <a:buSzPts val="1100"/>
              <a:buFont typeface="Arial"/>
              <a:buNone/>
            </a:pPr>
            <a:r>
              <a:rPr lang="en-US"/>
              <a:t>The process begins by creating a Stripe PaymentIntent and then verifying that the payment was successfully completed. Only after confirmation does the application write the corresponding order and payment records to the database."</a:t>
            </a:r>
            <a:endParaRPr/>
          </a:p>
          <a:p>
            <a:pPr indent="0" lvl="0" marL="0" rtl="0" algn="l">
              <a:lnSpc>
                <a:spcPct val="115000"/>
              </a:lnSpc>
              <a:spcBef>
                <a:spcPts val="1200"/>
              </a:spcBef>
              <a:spcAft>
                <a:spcPts val="0"/>
              </a:spcAft>
              <a:buClr>
                <a:schemeClr val="dk1"/>
              </a:buClr>
              <a:buSzPts val="1100"/>
              <a:buFont typeface="Arial"/>
              <a:buNone/>
            </a:pPr>
            <a:r>
              <a:rPr lang="en-US"/>
              <a:t>"From an SRE perspective, this workflow is important because failures here are immediately visible to customers and can have financial consequences. We need to ensure that payment and order records remain consistent and that customers are not charged without an order being created."</a:t>
            </a:r>
            <a:endParaRPr/>
          </a:p>
          <a:p>
            <a:pPr indent="0" lvl="0" marL="0" rtl="0" algn="l">
              <a:lnSpc>
                <a:spcPct val="115000"/>
              </a:lnSpc>
              <a:spcBef>
                <a:spcPts val="1200"/>
              </a:spcBef>
              <a:spcAft>
                <a:spcPts val="0"/>
              </a:spcAft>
              <a:buClr>
                <a:schemeClr val="dk1"/>
              </a:buClr>
              <a:buSzPts val="1100"/>
              <a:buFont typeface="Arial"/>
              <a:buNone/>
            </a:pPr>
            <a:r>
              <a:rPr lang="en-US"/>
              <a:t>"Another consideration is idempotency. If a confirmation request is received multiple times, the system should recognise that the payment has already been processed and avoid creating duplicate orders or charging the customer twice."</a:t>
            </a:r>
            <a:endParaRPr/>
          </a:p>
          <a:p>
            <a:pPr indent="0" lvl="0" marL="0" rtl="0" algn="l">
              <a:lnSpc>
                <a:spcPct val="115000"/>
              </a:lnSpc>
              <a:spcBef>
                <a:spcPts val="1200"/>
              </a:spcBef>
              <a:spcAft>
                <a:spcPts val="0"/>
              </a:spcAft>
              <a:buClr>
                <a:schemeClr val="dk1"/>
              </a:buClr>
              <a:buSzPts val="1100"/>
              <a:buFont typeface="Arial"/>
              <a:buNone/>
            </a:pPr>
            <a:r>
              <a:rPr lang="en-US"/>
              <a:t>"A useful service-level indicator for this workflow would be checkout success rate, which measures the percentage of checkout sessions that successfully complete payment and create the required records."</a:t>
            </a:r>
            <a:endParaRPr/>
          </a:p>
          <a:p>
            <a:pPr indent="0" lvl="0" marL="0" rtl="0" algn="l">
              <a:spcBef>
                <a:spcPts val="1200"/>
              </a:spcBef>
              <a:spcAft>
                <a:spcPts val="0"/>
              </a:spcAft>
              <a:buNone/>
            </a:pPr>
            <a:r>
              <a:t/>
            </a:r>
            <a:endParaRPr/>
          </a:p>
        </p:txBody>
      </p:sp>
      <p:sp>
        <p:nvSpPr>
          <p:cNvPr id="196" name="Google Shape;19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c02a5357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ec02a5357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ec02a5357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transparent: this is the best SRE answer. The project has foundations, but production-grade SRE needs health checks, monitoring, secrets, idempotency, backups, and more than one replica.</a:t>
            </a:r>
            <a:endParaRPr/>
          </a:p>
        </p:txBody>
      </p:sp>
      <p:sp>
        <p:nvSpPr>
          <p:cNvPr id="224" name="Google Shape;2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by repeating the story: the app solves restaurant operations, the implementation has clear layers and data relationships, and SRE concepts give a production-ready path. Invite questions.</a:t>
            </a:r>
            <a:endParaRPr/>
          </a:p>
        </p:txBody>
      </p:sp>
      <p:sp>
        <p:nvSpPr>
          <p:cNvPr id="243" name="Google Shape;24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c02a53576_2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ec02a53576_2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ec02a53576_2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AF7F2"/>
        </a:solidFill>
      </p:bgPr>
    </p:bg>
    <p:spTree>
      <p:nvGrpSpPr>
        <p:cNvPr id="11" name="Shape 11"/>
        <p:cNvGrpSpPr/>
        <p:nvPr/>
      </p:nvGrpSpPr>
      <p:grpSpPr>
        <a:xfrm>
          <a:off x="0" y="0"/>
          <a:ext cx="0" cy="0"/>
          <a:chOff x="0" y="0"/>
          <a:chExt cx="0" cy="0"/>
        </a:xfrm>
      </p:grpSpPr>
      <p:cxnSp>
        <p:nvCxnSpPr>
          <p:cNvPr id="12" name="Google Shape;12;p2"/>
          <p:cNvCxnSpPr/>
          <p:nvPr/>
        </p:nvCxnSpPr>
        <p:spPr>
          <a:xfrm>
            <a:off x="548640" y="6446520"/>
            <a:ext cx="11064240" cy="0"/>
          </a:xfrm>
          <a:prstGeom prst="straightConnector1">
            <a:avLst/>
          </a:prstGeom>
          <a:noFill/>
          <a:ln cap="flat" cmpd="sng" w="12700">
            <a:solidFill>
              <a:srgbClr val="D9C6A3">
                <a:alpha val="65098"/>
              </a:srgbClr>
            </a:solidFill>
            <a:prstDash val="solid"/>
            <a:round/>
            <a:headEnd len="sm" w="sm" type="none"/>
            <a:tailEnd len="sm" w="sm" type="none"/>
          </a:ln>
        </p:spPr>
      </p:cxnSp>
      <p:sp>
        <p:nvSpPr>
          <p:cNvPr id="13" name="Google Shape;13;p2"/>
          <p:cNvSpPr txBox="1"/>
          <p:nvPr>
            <p:ph idx="12"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800" u="none" cap="none" strike="noStrike">
                <a:solidFill>
                  <a:srgbClr val="6B645B"/>
                </a:solidFill>
                <a:latin typeface="Arial"/>
                <a:ea typeface="Arial"/>
                <a:cs typeface="Arial"/>
                <a:sym typeface="Arial"/>
              </a:defRPr>
            </a:lvl1pPr>
            <a:lvl2pPr indent="0" lvl="1" marL="0" marR="0" algn="l">
              <a:spcBef>
                <a:spcPts val="0"/>
              </a:spcBef>
              <a:buNone/>
              <a:defRPr b="0" i="0" sz="800" u="none" cap="none" strike="noStrike">
                <a:solidFill>
                  <a:srgbClr val="6B645B"/>
                </a:solidFill>
                <a:latin typeface="Arial"/>
                <a:ea typeface="Arial"/>
                <a:cs typeface="Arial"/>
                <a:sym typeface="Arial"/>
              </a:defRPr>
            </a:lvl2pPr>
            <a:lvl3pPr indent="0" lvl="2" marL="0" marR="0" algn="l">
              <a:spcBef>
                <a:spcPts val="0"/>
              </a:spcBef>
              <a:buNone/>
              <a:defRPr b="0" i="0" sz="800" u="none" cap="none" strike="noStrike">
                <a:solidFill>
                  <a:srgbClr val="6B645B"/>
                </a:solidFill>
                <a:latin typeface="Arial"/>
                <a:ea typeface="Arial"/>
                <a:cs typeface="Arial"/>
                <a:sym typeface="Arial"/>
              </a:defRPr>
            </a:lvl3pPr>
            <a:lvl4pPr indent="0" lvl="3" marL="0" marR="0" algn="l">
              <a:spcBef>
                <a:spcPts val="0"/>
              </a:spcBef>
              <a:buNone/>
              <a:defRPr b="0" i="0" sz="800" u="none" cap="none" strike="noStrike">
                <a:solidFill>
                  <a:srgbClr val="6B645B"/>
                </a:solidFill>
                <a:latin typeface="Arial"/>
                <a:ea typeface="Arial"/>
                <a:cs typeface="Arial"/>
                <a:sym typeface="Arial"/>
              </a:defRPr>
            </a:lvl4pPr>
            <a:lvl5pPr indent="0" lvl="4" marL="0" marR="0" algn="l">
              <a:spcBef>
                <a:spcPts val="0"/>
              </a:spcBef>
              <a:buNone/>
              <a:defRPr b="0" i="0" sz="800" u="none" cap="none" strike="noStrike">
                <a:solidFill>
                  <a:srgbClr val="6B645B"/>
                </a:solidFill>
                <a:latin typeface="Arial"/>
                <a:ea typeface="Arial"/>
                <a:cs typeface="Arial"/>
                <a:sym typeface="Arial"/>
              </a:defRPr>
            </a:lvl5pPr>
            <a:lvl6pPr indent="0" lvl="5" marL="0" marR="0" algn="l">
              <a:spcBef>
                <a:spcPts val="0"/>
              </a:spcBef>
              <a:buNone/>
              <a:defRPr b="0" i="0" sz="800" u="none" cap="none" strike="noStrike">
                <a:solidFill>
                  <a:srgbClr val="6B645B"/>
                </a:solidFill>
                <a:latin typeface="Arial"/>
                <a:ea typeface="Arial"/>
                <a:cs typeface="Arial"/>
                <a:sym typeface="Arial"/>
              </a:defRPr>
            </a:lvl6pPr>
            <a:lvl7pPr indent="0" lvl="6" marL="0" marR="0" algn="l">
              <a:spcBef>
                <a:spcPts val="0"/>
              </a:spcBef>
              <a:buNone/>
              <a:defRPr b="0" i="0" sz="800" u="none" cap="none" strike="noStrike">
                <a:solidFill>
                  <a:srgbClr val="6B645B"/>
                </a:solidFill>
                <a:latin typeface="Arial"/>
                <a:ea typeface="Arial"/>
                <a:cs typeface="Arial"/>
                <a:sym typeface="Arial"/>
              </a:defRPr>
            </a:lvl7pPr>
            <a:lvl8pPr indent="0" lvl="7" marL="0" marR="0" algn="l">
              <a:spcBef>
                <a:spcPts val="0"/>
              </a:spcBef>
              <a:buNone/>
              <a:defRPr b="0" i="0" sz="800" u="none" cap="none" strike="noStrike">
                <a:solidFill>
                  <a:srgbClr val="6B645B"/>
                </a:solidFill>
                <a:latin typeface="Arial"/>
                <a:ea typeface="Arial"/>
                <a:cs typeface="Arial"/>
                <a:sym typeface="Arial"/>
              </a:defRPr>
            </a:lvl8pPr>
            <a:lvl9pPr indent="0" lvl="8" marL="0" marR="0" algn="l">
              <a:spcBef>
                <a:spcPts val="0"/>
              </a:spcBef>
              <a:buNone/>
              <a:defRPr b="0" i="0" sz="800" u="none" cap="none" strike="noStrike">
                <a:solidFill>
                  <a:srgbClr val="6B645B"/>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800" u="none" cap="none" strike="noStrike">
                <a:solidFill>
                  <a:srgbClr val="6B645B"/>
                </a:solidFill>
                <a:latin typeface="Arial"/>
                <a:ea typeface="Arial"/>
                <a:cs typeface="Arial"/>
                <a:sym typeface="Arial"/>
              </a:defRPr>
            </a:lvl1pPr>
            <a:lvl2pPr indent="0" lvl="1" marL="0" marR="0" rtl="0" algn="l">
              <a:spcBef>
                <a:spcPts val="0"/>
              </a:spcBef>
              <a:buNone/>
              <a:defRPr b="0" i="0" sz="800" u="none" cap="none" strike="noStrike">
                <a:solidFill>
                  <a:srgbClr val="6B645B"/>
                </a:solidFill>
                <a:latin typeface="Arial"/>
                <a:ea typeface="Arial"/>
                <a:cs typeface="Arial"/>
                <a:sym typeface="Arial"/>
              </a:defRPr>
            </a:lvl2pPr>
            <a:lvl3pPr indent="0" lvl="2" marL="0" marR="0" rtl="0" algn="l">
              <a:spcBef>
                <a:spcPts val="0"/>
              </a:spcBef>
              <a:buNone/>
              <a:defRPr b="0" i="0" sz="800" u="none" cap="none" strike="noStrike">
                <a:solidFill>
                  <a:srgbClr val="6B645B"/>
                </a:solidFill>
                <a:latin typeface="Arial"/>
                <a:ea typeface="Arial"/>
                <a:cs typeface="Arial"/>
                <a:sym typeface="Arial"/>
              </a:defRPr>
            </a:lvl3pPr>
            <a:lvl4pPr indent="0" lvl="3" marL="0" marR="0" rtl="0" algn="l">
              <a:spcBef>
                <a:spcPts val="0"/>
              </a:spcBef>
              <a:buNone/>
              <a:defRPr b="0" i="0" sz="800" u="none" cap="none" strike="noStrike">
                <a:solidFill>
                  <a:srgbClr val="6B645B"/>
                </a:solidFill>
                <a:latin typeface="Arial"/>
                <a:ea typeface="Arial"/>
                <a:cs typeface="Arial"/>
                <a:sym typeface="Arial"/>
              </a:defRPr>
            </a:lvl4pPr>
            <a:lvl5pPr indent="0" lvl="4" marL="0" marR="0" rtl="0" algn="l">
              <a:spcBef>
                <a:spcPts val="0"/>
              </a:spcBef>
              <a:buNone/>
              <a:defRPr b="0" i="0" sz="800" u="none" cap="none" strike="noStrike">
                <a:solidFill>
                  <a:srgbClr val="6B645B"/>
                </a:solidFill>
                <a:latin typeface="Arial"/>
                <a:ea typeface="Arial"/>
                <a:cs typeface="Arial"/>
                <a:sym typeface="Arial"/>
              </a:defRPr>
            </a:lvl5pPr>
            <a:lvl6pPr indent="0" lvl="5" marL="0" marR="0" rtl="0" algn="l">
              <a:spcBef>
                <a:spcPts val="0"/>
              </a:spcBef>
              <a:buNone/>
              <a:defRPr b="0" i="0" sz="800" u="none" cap="none" strike="noStrike">
                <a:solidFill>
                  <a:srgbClr val="6B645B"/>
                </a:solidFill>
                <a:latin typeface="Arial"/>
                <a:ea typeface="Arial"/>
                <a:cs typeface="Arial"/>
                <a:sym typeface="Arial"/>
              </a:defRPr>
            </a:lvl6pPr>
            <a:lvl7pPr indent="0" lvl="6" marL="0" marR="0" rtl="0" algn="l">
              <a:spcBef>
                <a:spcPts val="0"/>
              </a:spcBef>
              <a:buNone/>
              <a:defRPr b="0" i="0" sz="800" u="none" cap="none" strike="noStrike">
                <a:solidFill>
                  <a:srgbClr val="6B645B"/>
                </a:solidFill>
                <a:latin typeface="Arial"/>
                <a:ea typeface="Arial"/>
                <a:cs typeface="Arial"/>
                <a:sym typeface="Arial"/>
              </a:defRPr>
            </a:lvl7pPr>
            <a:lvl8pPr indent="0" lvl="7" marL="0" marR="0" rtl="0" algn="l">
              <a:spcBef>
                <a:spcPts val="0"/>
              </a:spcBef>
              <a:buNone/>
              <a:defRPr b="0" i="0" sz="800" u="none" cap="none" strike="noStrike">
                <a:solidFill>
                  <a:srgbClr val="6B645B"/>
                </a:solidFill>
                <a:latin typeface="Arial"/>
                <a:ea typeface="Arial"/>
                <a:cs typeface="Arial"/>
                <a:sym typeface="Arial"/>
              </a:defRPr>
            </a:lvl8pPr>
            <a:lvl9pPr indent="0" lvl="8" marL="0" marR="0" rtl="0" algn="l">
              <a:spcBef>
                <a:spcPts val="0"/>
              </a:spcBef>
              <a:buNone/>
              <a:defRPr b="0" i="0" sz="800" u="none" cap="none" strike="noStrike">
                <a:solidFill>
                  <a:srgbClr val="6B645B"/>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2.jpg"/><Relationship Id="rId5" Type="http://schemas.openxmlformats.org/officeDocument/2006/relationships/image" Target="../media/image1.jpg"/><Relationship Id="rId6"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app.p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mnt/data/restaurant_right.jpg" id="20" name="Google Shape;20;p4"/>
          <p:cNvPicPr preferRelativeResize="0"/>
          <p:nvPr/>
        </p:nvPicPr>
        <p:blipFill rotWithShape="1">
          <a:blip r:embed="rId3">
            <a:alphaModFix/>
          </a:blip>
          <a:srcRect b="0" l="0" r="0" t="0"/>
          <a:stretch/>
        </p:blipFill>
        <p:spPr>
          <a:xfrm>
            <a:off x="6172200" y="0"/>
            <a:ext cx="6016752" cy="6858000"/>
          </a:xfrm>
          <a:prstGeom prst="rect">
            <a:avLst/>
          </a:prstGeom>
          <a:noFill/>
          <a:ln>
            <a:noFill/>
          </a:ln>
        </p:spPr>
      </p:pic>
      <p:sp>
        <p:nvSpPr>
          <p:cNvPr id="21" name="Google Shape;21;p4"/>
          <p:cNvSpPr/>
          <p:nvPr/>
        </p:nvSpPr>
        <p:spPr>
          <a:xfrm>
            <a:off x="594360" y="685800"/>
            <a:ext cx="1325880" cy="292608"/>
          </a:xfrm>
          <a:prstGeom prst="roundRect">
            <a:avLst>
              <a:gd fmla="val 37500" name="adj"/>
            </a:avLst>
          </a:prstGeom>
          <a:solidFill>
            <a:srgbClr val="A55A3A">
              <a:alpha val="94901"/>
            </a:srgbClr>
          </a:solidFill>
          <a:ln cap="flat" cmpd="sng" w="12700">
            <a:solidFill>
              <a:srgbClr val="A55A3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685800" y="749808"/>
            <a:ext cx="114300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TEAM 03</a:t>
            </a:r>
            <a:endParaRPr b="0" i="0" sz="750" u="none" cap="none" strike="noStrike">
              <a:solidFill>
                <a:schemeClr val="dk1"/>
              </a:solidFill>
              <a:latin typeface="Arial"/>
              <a:ea typeface="Arial"/>
              <a:cs typeface="Arial"/>
              <a:sym typeface="Arial"/>
            </a:endParaRPr>
          </a:p>
        </p:txBody>
      </p:sp>
      <p:sp>
        <p:nvSpPr>
          <p:cNvPr id="23" name="Google Shape;23;p4"/>
          <p:cNvSpPr/>
          <p:nvPr/>
        </p:nvSpPr>
        <p:spPr>
          <a:xfrm>
            <a:off x="594360" y="1325880"/>
            <a:ext cx="507492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3600"/>
              <a:buFont typeface="Play"/>
              <a:buNone/>
            </a:pPr>
            <a:r>
              <a:rPr b="1" i="0" lang="en-US" sz="3600" u="none" cap="none" strike="noStrike">
                <a:solidFill>
                  <a:srgbClr val="1C1B1A"/>
                </a:solidFill>
                <a:latin typeface="Play"/>
                <a:ea typeface="Play"/>
                <a:cs typeface="Play"/>
                <a:sym typeface="Play"/>
              </a:rPr>
              <a:t>Restaurant</a:t>
            </a:r>
            <a:endParaRPr b="0" i="0" sz="3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C1B1A"/>
              </a:buClr>
              <a:buSzPts val="3600"/>
              <a:buFont typeface="Play"/>
              <a:buNone/>
            </a:pPr>
            <a:r>
              <a:rPr b="1" i="0" lang="en-US" sz="3600" u="none" cap="none" strike="noStrike">
                <a:solidFill>
                  <a:srgbClr val="1C1B1A"/>
                </a:solidFill>
                <a:latin typeface="Play"/>
                <a:ea typeface="Play"/>
                <a:cs typeface="Play"/>
                <a:sym typeface="Play"/>
              </a:rPr>
              <a:t>Management</a:t>
            </a:r>
            <a:endParaRPr b="0" i="0" sz="3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C1B1A"/>
              </a:buClr>
              <a:buSzPts val="3600"/>
              <a:buFont typeface="Play"/>
              <a:buNone/>
            </a:pPr>
            <a:r>
              <a:rPr b="1" i="0" lang="en-US" sz="3600" u="none" cap="none" strike="noStrike">
                <a:solidFill>
                  <a:srgbClr val="1C1B1A"/>
                </a:solidFill>
                <a:latin typeface="Play"/>
                <a:ea typeface="Play"/>
                <a:cs typeface="Play"/>
                <a:sym typeface="Play"/>
              </a:rPr>
              <a:t>Project</a:t>
            </a:r>
            <a:endParaRPr b="0" i="0" sz="3600" u="none" cap="none" strike="noStrike">
              <a:solidFill>
                <a:schemeClr val="dk1"/>
              </a:solidFill>
              <a:latin typeface="Arial"/>
              <a:ea typeface="Arial"/>
              <a:cs typeface="Arial"/>
              <a:sym typeface="Arial"/>
            </a:endParaRPr>
          </a:p>
        </p:txBody>
      </p:sp>
      <p:sp>
        <p:nvSpPr>
          <p:cNvPr id="24" name="Google Shape;24;p4"/>
          <p:cNvSpPr/>
          <p:nvPr/>
        </p:nvSpPr>
        <p:spPr>
          <a:xfrm>
            <a:off x="640080" y="3246120"/>
            <a:ext cx="5120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400"/>
              <a:buFont typeface="Arial"/>
              <a:buNone/>
            </a:pPr>
            <a:r>
              <a:rPr lang="en-US">
                <a:solidFill>
                  <a:srgbClr val="655E55"/>
                </a:solidFill>
              </a:rPr>
              <a:t>Team 03 - Ben, Hritik, Jai</a:t>
            </a:r>
            <a:endParaRPr b="0" i="0" sz="1400" u="none" cap="none" strike="noStrike">
              <a:solidFill>
                <a:schemeClr val="dk1"/>
              </a:solidFill>
              <a:latin typeface="Arial"/>
              <a:ea typeface="Arial"/>
              <a:cs typeface="Arial"/>
              <a:sym typeface="Arial"/>
            </a:endParaRPr>
          </a:p>
        </p:txBody>
      </p:sp>
      <p:sp>
        <p:nvSpPr>
          <p:cNvPr id="25" name="Google Shape;25;p4"/>
          <p:cNvSpPr/>
          <p:nvPr/>
        </p:nvSpPr>
        <p:spPr>
          <a:xfrm>
            <a:off x="640080" y="4251960"/>
            <a:ext cx="1143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6F95"/>
              </a:buClr>
              <a:buSzPts val="2400"/>
              <a:buFont typeface="Arial"/>
              <a:buNone/>
            </a:pPr>
            <a:r>
              <a:rPr b="1" i="0" lang="en-US" sz="2400" u="none" cap="none" strike="noStrike">
                <a:solidFill>
                  <a:srgbClr val="2E6F95"/>
                </a:solidFill>
                <a:latin typeface="Arial"/>
                <a:ea typeface="Arial"/>
                <a:cs typeface="Arial"/>
                <a:sym typeface="Arial"/>
              </a:rPr>
              <a:t>Flask</a:t>
            </a:r>
            <a:endParaRPr b="0" i="0" sz="2400" u="none" cap="none" strike="noStrike">
              <a:solidFill>
                <a:schemeClr val="dk1"/>
              </a:solidFill>
              <a:latin typeface="Arial"/>
              <a:ea typeface="Arial"/>
              <a:cs typeface="Arial"/>
              <a:sym typeface="Arial"/>
            </a:endParaRPr>
          </a:p>
        </p:txBody>
      </p:sp>
      <p:sp>
        <p:nvSpPr>
          <p:cNvPr id="26" name="Google Shape;26;p4"/>
          <p:cNvSpPr/>
          <p:nvPr/>
        </p:nvSpPr>
        <p:spPr>
          <a:xfrm>
            <a:off x="640080" y="4636008"/>
            <a:ext cx="1143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55E55"/>
              </a:buClr>
              <a:buSzPts val="850"/>
              <a:buFont typeface="Arial"/>
              <a:buNone/>
            </a:pPr>
            <a:r>
              <a:rPr b="0" i="0" lang="en-US" sz="850" u="none" cap="none" strike="noStrike">
                <a:solidFill>
                  <a:srgbClr val="655E55"/>
                </a:solidFill>
                <a:latin typeface="Arial"/>
                <a:ea typeface="Arial"/>
                <a:cs typeface="Arial"/>
                <a:sym typeface="Arial"/>
              </a:rPr>
              <a:t>web app</a:t>
            </a:r>
            <a:endParaRPr b="0" i="0" sz="850" u="none" cap="none" strike="noStrike">
              <a:solidFill>
                <a:schemeClr val="dk1"/>
              </a:solidFill>
              <a:latin typeface="Arial"/>
              <a:ea typeface="Arial"/>
              <a:cs typeface="Arial"/>
              <a:sym typeface="Arial"/>
            </a:endParaRPr>
          </a:p>
        </p:txBody>
      </p:sp>
      <p:sp>
        <p:nvSpPr>
          <p:cNvPr id="27" name="Google Shape;27;p4"/>
          <p:cNvSpPr/>
          <p:nvPr/>
        </p:nvSpPr>
        <p:spPr>
          <a:xfrm>
            <a:off x="2057400" y="4251960"/>
            <a:ext cx="1143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7D5A"/>
              </a:buClr>
              <a:buSzPts val="2400"/>
              <a:buFont typeface="Arial"/>
              <a:buNone/>
            </a:pPr>
            <a:r>
              <a:rPr b="1" i="0" lang="en-US" sz="2400" u="none" cap="none" strike="noStrike">
                <a:solidFill>
                  <a:srgbClr val="3D7D5A"/>
                </a:solidFill>
                <a:latin typeface="Arial"/>
                <a:ea typeface="Arial"/>
                <a:cs typeface="Arial"/>
                <a:sym typeface="Arial"/>
              </a:rPr>
              <a:t>MySQL</a:t>
            </a:r>
            <a:endParaRPr b="0" i="0" sz="2400" u="none" cap="none" strike="noStrike">
              <a:solidFill>
                <a:schemeClr val="dk1"/>
              </a:solidFill>
              <a:latin typeface="Arial"/>
              <a:ea typeface="Arial"/>
              <a:cs typeface="Arial"/>
              <a:sym typeface="Arial"/>
            </a:endParaRPr>
          </a:p>
        </p:txBody>
      </p:sp>
      <p:sp>
        <p:nvSpPr>
          <p:cNvPr id="28" name="Google Shape;28;p4"/>
          <p:cNvSpPr/>
          <p:nvPr/>
        </p:nvSpPr>
        <p:spPr>
          <a:xfrm>
            <a:off x="2057400" y="4636008"/>
            <a:ext cx="1143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55E55"/>
              </a:buClr>
              <a:buSzPts val="850"/>
              <a:buFont typeface="Arial"/>
              <a:buNone/>
            </a:pPr>
            <a:r>
              <a:rPr b="0" i="0" lang="en-US" sz="850" u="none" cap="none" strike="noStrike">
                <a:solidFill>
                  <a:srgbClr val="655E55"/>
                </a:solidFill>
                <a:latin typeface="Arial"/>
                <a:ea typeface="Arial"/>
                <a:cs typeface="Arial"/>
                <a:sym typeface="Arial"/>
              </a:rPr>
              <a:t>relational data</a:t>
            </a:r>
            <a:endParaRPr b="0" i="0" sz="850" u="none" cap="none" strike="noStrike">
              <a:solidFill>
                <a:schemeClr val="dk1"/>
              </a:solidFill>
              <a:latin typeface="Arial"/>
              <a:ea typeface="Arial"/>
              <a:cs typeface="Arial"/>
              <a:sym typeface="Arial"/>
            </a:endParaRPr>
          </a:p>
        </p:txBody>
      </p:sp>
      <p:sp>
        <p:nvSpPr>
          <p:cNvPr id="29" name="Google Shape;29;p4"/>
          <p:cNvSpPr/>
          <p:nvPr/>
        </p:nvSpPr>
        <p:spPr>
          <a:xfrm>
            <a:off x="3611880" y="4251960"/>
            <a:ext cx="1143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923A"/>
              </a:buClr>
              <a:buSzPts val="2400"/>
              <a:buFont typeface="Arial"/>
              <a:buNone/>
            </a:pPr>
            <a:r>
              <a:rPr b="1" i="0" lang="en-US" sz="2400" u="none" cap="none" strike="noStrike">
                <a:solidFill>
                  <a:srgbClr val="C9923A"/>
                </a:solidFill>
                <a:latin typeface="Arial"/>
                <a:ea typeface="Arial"/>
                <a:cs typeface="Arial"/>
                <a:sym typeface="Arial"/>
              </a:rPr>
              <a:t>Stripe</a:t>
            </a:r>
            <a:endParaRPr b="0" i="0" sz="2400" u="none" cap="none" strike="noStrike">
              <a:solidFill>
                <a:schemeClr val="dk1"/>
              </a:solidFill>
              <a:latin typeface="Arial"/>
              <a:ea typeface="Arial"/>
              <a:cs typeface="Arial"/>
              <a:sym typeface="Arial"/>
            </a:endParaRPr>
          </a:p>
        </p:txBody>
      </p:sp>
      <p:sp>
        <p:nvSpPr>
          <p:cNvPr id="30" name="Google Shape;30;p4"/>
          <p:cNvSpPr/>
          <p:nvPr/>
        </p:nvSpPr>
        <p:spPr>
          <a:xfrm>
            <a:off x="3611880" y="4636008"/>
            <a:ext cx="1143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55E55"/>
              </a:buClr>
              <a:buSzPts val="850"/>
              <a:buFont typeface="Arial"/>
              <a:buNone/>
            </a:pPr>
            <a:r>
              <a:rPr b="0" i="0" lang="en-US" sz="850" u="none" cap="none" strike="noStrike">
                <a:solidFill>
                  <a:srgbClr val="655E55"/>
                </a:solidFill>
                <a:latin typeface="Arial"/>
                <a:ea typeface="Arial"/>
                <a:cs typeface="Arial"/>
                <a:sym typeface="Arial"/>
              </a:rPr>
              <a:t>payments</a:t>
            </a:r>
            <a:endParaRPr b="0" i="0" sz="850" u="none" cap="none" strike="noStrike">
              <a:solidFill>
                <a:schemeClr val="dk1"/>
              </a:solidFill>
              <a:latin typeface="Arial"/>
              <a:ea typeface="Arial"/>
              <a:cs typeface="Arial"/>
              <a:sym typeface="Arial"/>
            </a:endParaRPr>
          </a:p>
        </p:txBody>
      </p:sp>
      <p:sp>
        <p:nvSpPr>
          <p:cNvPr id="31" name="Google Shape;31;p4"/>
          <p:cNvSpPr/>
          <p:nvPr/>
        </p:nvSpPr>
        <p:spPr>
          <a:xfrm>
            <a:off x="4800600" y="4251960"/>
            <a:ext cx="1143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3A"/>
              </a:buClr>
              <a:buSzPts val="2400"/>
              <a:buFont typeface="Arial"/>
              <a:buNone/>
            </a:pPr>
            <a:r>
              <a:rPr b="1" i="0" lang="en-US" sz="2400" u="none" cap="none" strike="noStrike">
                <a:solidFill>
                  <a:srgbClr val="A55A3A"/>
                </a:solidFill>
                <a:latin typeface="Arial"/>
                <a:ea typeface="Arial"/>
                <a:cs typeface="Arial"/>
                <a:sym typeface="Arial"/>
              </a:rPr>
              <a:t>K8s</a:t>
            </a:r>
            <a:endParaRPr b="0" i="0" sz="2400" u="none" cap="none" strike="noStrike">
              <a:solidFill>
                <a:schemeClr val="dk1"/>
              </a:solidFill>
              <a:latin typeface="Arial"/>
              <a:ea typeface="Arial"/>
              <a:cs typeface="Arial"/>
              <a:sym typeface="Arial"/>
            </a:endParaRPr>
          </a:p>
        </p:txBody>
      </p:sp>
      <p:sp>
        <p:nvSpPr>
          <p:cNvPr id="32" name="Google Shape;32;p4"/>
          <p:cNvSpPr/>
          <p:nvPr/>
        </p:nvSpPr>
        <p:spPr>
          <a:xfrm>
            <a:off x="4800600" y="4636008"/>
            <a:ext cx="1143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55E55"/>
              </a:buClr>
              <a:buSzPts val="850"/>
              <a:buFont typeface="Arial"/>
              <a:buNone/>
            </a:pPr>
            <a:r>
              <a:rPr b="0" i="0" lang="en-US" sz="850" u="none" cap="none" strike="noStrike">
                <a:solidFill>
                  <a:srgbClr val="655E55"/>
                </a:solidFill>
                <a:latin typeface="Arial"/>
                <a:ea typeface="Arial"/>
                <a:cs typeface="Arial"/>
                <a:sym typeface="Arial"/>
              </a:rPr>
              <a:t>deployment</a:t>
            </a:r>
            <a:endParaRPr b="0" i="0" sz="850" u="none" cap="none" strike="noStrike">
              <a:solidFill>
                <a:schemeClr val="dk1"/>
              </a:solidFill>
              <a:latin typeface="Arial"/>
              <a:ea typeface="Arial"/>
              <a:cs typeface="Arial"/>
              <a:sym typeface="Arial"/>
            </a:endParaRPr>
          </a:p>
        </p:txBody>
      </p:sp>
      <p:sp>
        <p:nvSpPr>
          <p:cNvPr id="33" name="Google Shape;33;p4"/>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5"/>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What the project </a:t>
            </a:r>
            <a:r>
              <a:rPr b="1" lang="en-US" sz="2600">
                <a:solidFill>
                  <a:srgbClr val="1C1B1A"/>
                </a:solidFill>
                <a:latin typeface="Play"/>
                <a:ea typeface="Play"/>
                <a:cs typeface="Play"/>
                <a:sym typeface="Play"/>
              </a:rPr>
              <a:t>encompasses</a:t>
            </a:r>
            <a:endParaRPr b="0" i="0" sz="2600" u="none" cap="none" strike="noStrike">
              <a:solidFill>
                <a:schemeClr val="dk1"/>
              </a:solidFill>
              <a:latin typeface="Arial"/>
              <a:ea typeface="Arial"/>
              <a:cs typeface="Arial"/>
              <a:sym typeface="Arial"/>
            </a:endParaRPr>
          </a:p>
        </p:txBody>
      </p:sp>
      <p:pic>
        <p:nvPicPr>
          <p:cNvPr descr="/mnt/data/signaturedish1.jpg" id="40" name="Google Shape;40;p5"/>
          <p:cNvPicPr preferRelativeResize="0"/>
          <p:nvPr/>
        </p:nvPicPr>
        <p:blipFill rotWithShape="1">
          <a:blip r:embed="rId3">
            <a:alphaModFix/>
          </a:blip>
          <a:srcRect b="0" l="20701" r="20701" t="0"/>
          <a:stretch/>
        </p:blipFill>
        <p:spPr>
          <a:xfrm>
            <a:off x="7543800" y="1051560"/>
            <a:ext cx="3977640" cy="4526280"/>
          </a:xfrm>
          <a:prstGeom prst="rect">
            <a:avLst/>
          </a:prstGeom>
          <a:noFill/>
          <a:ln>
            <a:noFill/>
          </a:ln>
        </p:spPr>
      </p:pic>
      <p:sp>
        <p:nvSpPr>
          <p:cNvPr id="41" name="Google Shape;41;p5"/>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
        <p:nvSpPr>
          <p:cNvPr id="42" name="Google Shape;42;p5"/>
          <p:cNvSpPr/>
          <p:nvPr/>
        </p:nvSpPr>
        <p:spPr>
          <a:xfrm>
            <a:off x="443357" y="1191895"/>
            <a:ext cx="4755000" cy="2560200"/>
          </a:xfrm>
          <a:prstGeom prst="rect">
            <a:avLst/>
          </a:prstGeom>
          <a:noFill/>
          <a:ln>
            <a:noFill/>
          </a:ln>
        </p:spPr>
        <p:txBody>
          <a:bodyPr anchorCtr="0" anchor="t" bIns="625" lIns="625" spcFirstLastPara="1" rIns="625" wrap="square" tIns="625">
            <a:noAutofit/>
          </a:bodyPr>
          <a:lstStyle/>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rPr>
              <a:t>Customer services</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Menu browsing</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Takeaway ordering</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Online reservations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Stripe payment processing</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Rewards and vouchers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rPr>
              <a:t>Restaurant management</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Menu administration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Customer management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Staff/admin roles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Authentication and security</a:t>
            </a:r>
            <a:endParaRPr sz="1800">
              <a:solidFill>
                <a:schemeClr val="dk1"/>
              </a:solidFill>
            </a:endParaRPr>
          </a:p>
          <a:p>
            <a:pPr indent="0" lvl="0" marL="457200" marR="0" rtl="0" algn="l">
              <a:spcBef>
                <a:spcPts val="1200"/>
              </a:spcBef>
              <a:spcAft>
                <a:spcPts val="0"/>
              </a:spcAft>
              <a:buNone/>
            </a:pPr>
            <a:r>
              <a:t/>
            </a:r>
            <a:endParaRPr b="1" sz="23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6"/>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Relationship diagram: database model</a:t>
            </a:r>
            <a:endParaRPr b="0" i="0" sz="2600" u="none" cap="none" strike="noStrike">
              <a:solidFill>
                <a:schemeClr val="dk1"/>
              </a:solidFill>
              <a:latin typeface="Arial"/>
              <a:ea typeface="Arial"/>
              <a:cs typeface="Arial"/>
              <a:sym typeface="Arial"/>
            </a:endParaRPr>
          </a:p>
        </p:txBody>
      </p:sp>
      <p:sp>
        <p:nvSpPr>
          <p:cNvPr id="49" name="Google Shape;49;p6"/>
          <p:cNvSpPr/>
          <p:nvPr/>
        </p:nvSpPr>
        <p:spPr>
          <a:xfrm>
            <a:off x="566928" y="786384"/>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050"/>
              <a:buFont typeface="Arial"/>
              <a:buNone/>
            </a:pPr>
            <a:r>
              <a:rPr b="0" i="0" lang="en-US" sz="1050" u="none" cap="none" strike="noStrike">
                <a:solidFill>
                  <a:srgbClr val="655E55"/>
                </a:solidFill>
                <a:latin typeface="Arial"/>
                <a:ea typeface="Arial"/>
                <a:cs typeface="Arial"/>
                <a:sym typeface="Arial"/>
              </a:rPr>
              <a:t>Core relational entities support users, menu, orders, payments, bookings, and rewards</a:t>
            </a:r>
            <a:endParaRPr b="0" i="0" sz="1050" u="none" cap="none" strike="noStrike">
              <a:solidFill>
                <a:schemeClr val="dk1"/>
              </a:solidFill>
              <a:latin typeface="Arial"/>
              <a:ea typeface="Arial"/>
              <a:cs typeface="Arial"/>
              <a:sym typeface="Arial"/>
            </a:endParaRPr>
          </a:p>
        </p:txBody>
      </p:sp>
      <p:sp>
        <p:nvSpPr>
          <p:cNvPr id="50" name="Google Shape;50;p6"/>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pic>
        <p:nvPicPr>
          <p:cNvPr id="51" name="Google Shape;51;p6" title="erd take 2.png"/>
          <p:cNvPicPr preferRelativeResize="0"/>
          <p:nvPr/>
        </p:nvPicPr>
        <p:blipFill rotWithShape="1">
          <a:blip r:embed="rId3">
            <a:alphaModFix/>
          </a:blip>
          <a:srcRect b="16370" l="1840" r="1802" t="6488"/>
          <a:stretch/>
        </p:blipFill>
        <p:spPr>
          <a:xfrm>
            <a:off x="1368210" y="1187850"/>
            <a:ext cx="9455589" cy="50469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7"/>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Flow diagram: admin/customer workflow</a:t>
            </a:r>
            <a:endParaRPr b="0" i="0" sz="2600" u="none" cap="none" strike="noStrike">
              <a:solidFill>
                <a:schemeClr val="dk1"/>
              </a:solidFill>
              <a:latin typeface="Arial"/>
              <a:ea typeface="Arial"/>
              <a:cs typeface="Arial"/>
              <a:sym typeface="Arial"/>
            </a:endParaRPr>
          </a:p>
        </p:txBody>
      </p:sp>
      <p:pic>
        <p:nvPicPr>
          <p:cNvPr descr="/mnt/data/chefs_wide.jpg" id="58" name="Google Shape;58;p7"/>
          <p:cNvPicPr preferRelativeResize="0"/>
          <p:nvPr/>
        </p:nvPicPr>
        <p:blipFill rotWithShape="1">
          <a:blip r:embed="rId3">
            <a:alphaModFix/>
          </a:blip>
          <a:srcRect b="0" l="0" r="0" t="0"/>
          <a:stretch/>
        </p:blipFill>
        <p:spPr>
          <a:xfrm>
            <a:off x="7818120" y="1078992"/>
            <a:ext cx="3337560" cy="2331720"/>
          </a:xfrm>
          <a:prstGeom prst="rect">
            <a:avLst/>
          </a:prstGeom>
          <a:noFill/>
          <a:ln>
            <a:noFill/>
          </a:ln>
        </p:spPr>
      </p:pic>
      <p:sp>
        <p:nvSpPr>
          <p:cNvPr id="59" name="Google Shape;59;p7"/>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pic>
        <p:nvPicPr>
          <p:cNvPr id="60" name="Google Shape;60;p7"/>
          <p:cNvPicPr preferRelativeResize="0"/>
          <p:nvPr/>
        </p:nvPicPr>
        <p:blipFill>
          <a:blip r:embed="rId4">
            <a:alphaModFix/>
          </a:blip>
          <a:stretch>
            <a:fillRect/>
          </a:stretch>
        </p:blipFill>
        <p:spPr>
          <a:xfrm>
            <a:off x="1109950" y="1266400"/>
            <a:ext cx="4338675" cy="51415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8"/>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Project diagram: how the pieces fit together</a:t>
            </a:r>
            <a:endParaRPr b="0" i="0" sz="2600" u="none" cap="none" strike="noStrike">
              <a:solidFill>
                <a:schemeClr val="dk1"/>
              </a:solidFill>
              <a:latin typeface="Arial"/>
              <a:ea typeface="Arial"/>
              <a:cs typeface="Arial"/>
              <a:sym typeface="Arial"/>
            </a:endParaRPr>
          </a:p>
        </p:txBody>
      </p:sp>
      <p:sp>
        <p:nvSpPr>
          <p:cNvPr id="67" name="Google Shape;67;p8"/>
          <p:cNvSpPr/>
          <p:nvPr/>
        </p:nvSpPr>
        <p:spPr>
          <a:xfrm>
            <a:off x="566928" y="786384"/>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050"/>
              <a:buFont typeface="Arial"/>
              <a:buNone/>
            </a:pPr>
            <a:r>
              <a:rPr b="0" i="0" lang="en-US" sz="1050" u="none" cap="none" strike="noStrike">
                <a:solidFill>
                  <a:srgbClr val="655E55"/>
                </a:solidFill>
                <a:latin typeface="Arial"/>
                <a:ea typeface="Arial"/>
                <a:cs typeface="Arial"/>
                <a:sym typeface="Arial"/>
              </a:rPr>
              <a:t>Flask separates routes, templates, database access, and external services</a:t>
            </a:r>
            <a:endParaRPr b="0" i="0" sz="1050" u="none" cap="none" strike="noStrike">
              <a:solidFill>
                <a:schemeClr val="dk1"/>
              </a:solidFill>
              <a:latin typeface="Arial"/>
              <a:ea typeface="Arial"/>
              <a:cs typeface="Arial"/>
              <a:sym typeface="Arial"/>
            </a:endParaRPr>
          </a:p>
        </p:txBody>
      </p:sp>
      <p:cxnSp>
        <p:nvCxnSpPr>
          <p:cNvPr id="68" name="Google Shape;68;p8"/>
          <p:cNvCxnSpPr/>
          <p:nvPr/>
        </p:nvCxnSpPr>
        <p:spPr>
          <a:xfrm>
            <a:off x="2452705" y="2587740"/>
            <a:ext cx="1326000" cy="0"/>
          </a:xfrm>
          <a:prstGeom prst="straightConnector1">
            <a:avLst/>
          </a:prstGeom>
          <a:noFill/>
          <a:ln cap="flat" cmpd="sng" w="16500">
            <a:solidFill>
              <a:srgbClr val="2E6F95">
                <a:alpha val="94901"/>
              </a:srgbClr>
            </a:solidFill>
            <a:prstDash val="solid"/>
            <a:round/>
            <a:headEnd len="sm" w="sm" type="none"/>
            <a:tailEnd len="med" w="med" type="triangle"/>
          </a:ln>
        </p:spPr>
      </p:cxnSp>
      <p:cxnSp>
        <p:nvCxnSpPr>
          <p:cNvPr id="69" name="Google Shape;69;p8"/>
          <p:cNvCxnSpPr/>
          <p:nvPr/>
        </p:nvCxnSpPr>
        <p:spPr>
          <a:xfrm>
            <a:off x="2468880" y="2987200"/>
            <a:ext cx="1326000" cy="0"/>
          </a:xfrm>
          <a:prstGeom prst="straightConnector1">
            <a:avLst/>
          </a:prstGeom>
          <a:noFill/>
          <a:ln cap="flat" cmpd="sng" w="16500">
            <a:solidFill>
              <a:srgbClr val="2E6F95">
                <a:alpha val="94901"/>
              </a:srgbClr>
            </a:solidFill>
            <a:prstDash val="solid"/>
            <a:round/>
            <a:headEnd len="sm" w="sm" type="none"/>
            <a:tailEnd len="med" w="med" type="triangle"/>
          </a:ln>
        </p:spPr>
      </p:cxnSp>
      <p:cxnSp>
        <p:nvCxnSpPr>
          <p:cNvPr id="70" name="Google Shape;70;p8"/>
          <p:cNvCxnSpPr/>
          <p:nvPr/>
        </p:nvCxnSpPr>
        <p:spPr>
          <a:xfrm flipH="1" rot="10800000">
            <a:off x="5440680" y="1828800"/>
            <a:ext cx="1143000" cy="868680"/>
          </a:xfrm>
          <a:prstGeom prst="straightConnector1">
            <a:avLst/>
          </a:prstGeom>
          <a:noFill/>
          <a:ln cap="flat" cmpd="sng" w="16500">
            <a:solidFill>
              <a:srgbClr val="3D7D5A">
                <a:alpha val="94901"/>
              </a:srgbClr>
            </a:solidFill>
            <a:prstDash val="solid"/>
            <a:round/>
            <a:headEnd len="sm" w="sm" type="none"/>
            <a:tailEnd len="med" w="med" type="triangle"/>
          </a:ln>
        </p:spPr>
      </p:cxnSp>
      <p:cxnSp>
        <p:nvCxnSpPr>
          <p:cNvPr id="71" name="Google Shape;71;p8"/>
          <p:cNvCxnSpPr/>
          <p:nvPr/>
        </p:nvCxnSpPr>
        <p:spPr>
          <a:xfrm>
            <a:off x="5440680" y="2834640"/>
            <a:ext cx="1143000" cy="0"/>
          </a:xfrm>
          <a:prstGeom prst="straightConnector1">
            <a:avLst/>
          </a:prstGeom>
          <a:noFill/>
          <a:ln cap="flat" cmpd="sng" w="16500">
            <a:solidFill>
              <a:srgbClr val="3D7D5A">
                <a:alpha val="94901"/>
              </a:srgbClr>
            </a:solidFill>
            <a:prstDash val="solid"/>
            <a:round/>
            <a:headEnd len="sm" w="sm" type="none"/>
            <a:tailEnd len="med" w="med" type="triangle"/>
          </a:ln>
        </p:spPr>
      </p:cxnSp>
      <p:cxnSp>
        <p:nvCxnSpPr>
          <p:cNvPr id="72" name="Google Shape;72;p8"/>
          <p:cNvCxnSpPr/>
          <p:nvPr/>
        </p:nvCxnSpPr>
        <p:spPr>
          <a:xfrm>
            <a:off x="5440680" y="2971800"/>
            <a:ext cx="1143000" cy="868680"/>
          </a:xfrm>
          <a:prstGeom prst="straightConnector1">
            <a:avLst/>
          </a:prstGeom>
          <a:noFill/>
          <a:ln cap="flat" cmpd="sng" w="16500">
            <a:solidFill>
              <a:srgbClr val="3D7D5A">
                <a:alpha val="94901"/>
              </a:srgbClr>
            </a:solidFill>
            <a:prstDash val="solid"/>
            <a:round/>
            <a:headEnd len="sm" w="sm" type="none"/>
            <a:tailEnd len="med" w="med" type="triangle"/>
          </a:ln>
        </p:spPr>
      </p:cxnSp>
      <p:cxnSp>
        <p:nvCxnSpPr>
          <p:cNvPr id="73" name="Google Shape;73;p8"/>
          <p:cNvCxnSpPr/>
          <p:nvPr/>
        </p:nvCxnSpPr>
        <p:spPr>
          <a:xfrm>
            <a:off x="8001000" y="1828800"/>
            <a:ext cx="1234440" cy="0"/>
          </a:xfrm>
          <a:prstGeom prst="straightConnector1">
            <a:avLst/>
          </a:prstGeom>
          <a:noFill/>
          <a:ln cap="flat" cmpd="sng" w="16500">
            <a:solidFill>
              <a:srgbClr val="A55A3A">
                <a:alpha val="94901"/>
              </a:srgbClr>
            </a:solidFill>
            <a:prstDash val="solid"/>
            <a:round/>
            <a:headEnd len="sm" w="sm" type="none"/>
            <a:tailEnd len="med" w="med" type="triangle"/>
          </a:ln>
        </p:spPr>
      </p:cxnSp>
      <p:cxnSp>
        <p:nvCxnSpPr>
          <p:cNvPr id="74" name="Google Shape;74;p8"/>
          <p:cNvCxnSpPr/>
          <p:nvPr/>
        </p:nvCxnSpPr>
        <p:spPr>
          <a:xfrm>
            <a:off x="8001000" y="2834640"/>
            <a:ext cx="1234440" cy="0"/>
          </a:xfrm>
          <a:prstGeom prst="straightConnector1">
            <a:avLst/>
          </a:prstGeom>
          <a:noFill/>
          <a:ln cap="flat" cmpd="sng" w="16500">
            <a:solidFill>
              <a:srgbClr val="A55A3A">
                <a:alpha val="94901"/>
              </a:srgbClr>
            </a:solidFill>
            <a:prstDash val="solid"/>
            <a:round/>
            <a:headEnd len="sm" w="sm" type="none"/>
            <a:tailEnd len="med" w="med" type="triangle"/>
          </a:ln>
        </p:spPr>
      </p:cxnSp>
      <p:cxnSp>
        <p:nvCxnSpPr>
          <p:cNvPr id="75" name="Google Shape;75;p8"/>
          <p:cNvCxnSpPr/>
          <p:nvPr/>
        </p:nvCxnSpPr>
        <p:spPr>
          <a:xfrm>
            <a:off x="8001000" y="3840480"/>
            <a:ext cx="1234440" cy="0"/>
          </a:xfrm>
          <a:prstGeom prst="straightConnector1">
            <a:avLst/>
          </a:prstGeom>
          <a:noFill/>
          <a:ln cap="flat" cmpd="sng" w="16500">
            <a:solidFill>
              <a:srgbClr val="A55A3A">
                <a:alpha val="94901"/>
              </a:srgbClr>
            </a:solidFill>
            <a:prstDash val="solid"/>
            <a:round/>
            <a:headEnd len="sm" w="sm" type="none"/>
            <a:tailEnd len="med" w="med" type="triangle"/>
          </a:ln>
        </p:spPr>
      </p:cxnSp>
      <p:cxnSp>
        <p:nvCxnSpPr>
          <p:cNvPr id="76" name="Google Shape;76;p8"/>
          <p:cNvCxnSpPr>
            <a:endCxn id="77" idx="0"/>
          </p:cNvCxnSpPr>
          <p:nvPr/>
        </p:nvCxnSpPr>
        <p:spPr>
          <a:xfrm flipH="1">
            <a:off x="4480595" y="3200582"/>
            <a:ext cx="40800" cy="1088100"/>
          </a:xfrm>
          <a:prstGeom prst="straightConnector1">
            <a:avLst/>
          </a:prstGeom>
          <a:noFill/>
          <a:ln cap="flat" cmpd="sng" w="16500">
            <a:solidFill>
              <a:srgbClr val="C9923A">
                <a:alpha val="94901"/>
              </a:srgbClr>
            </a:solidFill>
            <a:prstDash val="solid"/>
            <a:round/>
            <a:headEnd len="sm" w="sm" type="none"/>
            <a:tailEnd len="med" w="med" type="triangle"/>
          </a:ln>
        </p:spPr>
      </p:cxnSp>
      <p:sp>
        <p:nvSpPr>
          <p:cNvPr id="78" name="Google Shape;78;p8"/>
          <p:cNvSpPr/>
          <p:nvPr/>
        </p:nvSpPr>
        <p:spPr>
          <a:xfrm>
            <a:off x="790860" y="2093975"/>
            <a:ext cx="1645800" cy="640200"/>
          </a:xfrm>
          <a:prstGeom prst="roundRect">
            <a:avLst>
              <a:gd fmla="val 14286" name="adj"/>
            </a:avLst>
          </a:prstGeom>
          <a:solidFill>
            <a:srgbClr val="FFFFFF"/>
          </a:solidFill>
          <a:ln cap="flat" cmpd="sng" w="15225">
            <a:solidFill>
              <a:srgbClr val="2E6F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836580" y="2167127"/>
            <a:ext cx="15546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50"/>
              <a:buFont typeface="Arial"/>
              <a:buNone/>
            </a:pPr>
            <a:r>
              <a:rPr b="1" i="0" lang="en-US" sz="1050" u="none" cap="none" strike="noStrike">
                <a:solidFill>
                  <a:srgbClr val="1C1B1A"/>
                </a:solidFill>
                <a:latin typeface="Arial"/>
                <a:ea typeface="Arial"/>
                <a:cs typeface="Arial"/>
                <a:sym typeface="Arial"/>
              </a:rPr>
              <a:t>Customer</a:t>
            </a:r>
            <a:endParaRPr b="0" i="0" sz="10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50"/>
              <a:buFont typeface="Arial"/>
              <a:buNone/>
            </a:pPr>
            <a:r>
              <a:rPr b="1" i="0" lang="en-US" sz="1050" u="none" cap="none" strike="noStrike">
                <a:solidFill>
                  <a:srgbClr val="1C1B1A"/>
                </a:solidFill>
                <a:latin typeface="Arial"/>
                <a:ea typeface="Arial"/>
                <a:cs typeface="Arial"/>
                <a:sym typeface="Arial"/>
              </a:rPr>
              <a:t>user</a:t>
            </a:r>
            <a:endParaRPr b="0" i="0" sz="1050" u="none" cap="none" strike="noStrike">
              <a:solidFill>
                <a:schemeClr val="dk1"/>
              </a:solidFill>
              <a:latin typeface="Arial"/>
              <a:ea typeface="Arial"/>
              <a:cs typeface="Arial"/>
              <a:sym typeface="Arial"/>
            </a:endParaRPr>
          </a:p>
        </p:txBody>
      </p:sp>
      <p:sp>
        <p:nvSpPr>
          <p:cNvPr id="80" name="Google Shape;80;p8"/>
          <p:cNvSpPr/>
          <p:nvPr/>
        </p:nvSpPr>
        <p:spPr>
          <a:xfrm>
            <a:off x="777485" y="2795585"/>
            <a:ext cx="1645800" cy="640200"/>
          </a:xfrm>
          <a:prstGeom prst="roundRect">
            <a:avLst>
              <a:gd fmla="val 14286" name="adj"/>
            </a:avLst>
          </a:prstGeom>
          <a:solidFill>
            <a:srgbClr val="FFFFFF"/>
          </a:solidFill>
          <a:ln cap="flat" cmpd="sng" w="15225">
            <a:solidFill>
              <a:srgbClr val="3D7D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a:off x="823080" y="2859637"/>
            <a:ext cx="15546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50"/>
              <a:buFont typeface="Arial"/>
              <a:buNone/>
            </a:pPr>
            <a:r>
              <a:rPr b="1" i="0" lang="en-US" sz="1050" u="none" cap="none" strike="noStrike">
                <a:solidFill>
                  <a:srgbClr val="1C1B1A"/>
                </a:solidFill>
                <a:latin typeface="Arial"/>
                <a:ea typeface="Arial"/>
                <a:cs typeface="Arial"/>
                <a:sym typeface="Arial"/>
              </a:rPr>
              <a:t>Owner /</a:t>
            </a:r>
            <a:endParaRPr b="0" i="0" sz="10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50"/>
              <a:buFont typeface="Arial"/>
              <a:buNone/>
            </a:pPr>
            <a:r>
              <a:rPr b="1" i="0" lang="en-US" sz="1050" u="none" cap="none" strike="noStrike">
                <a:solidFill>
                  <a:srgbClr val="1C1B1A"/>
                </a:solidFill>
                <a:latin typeface="Arial"/>
                <a:ea typeface="Arial"/>
                <a:cs typeface="Arial"/>
                <a:sym typeface="Arial"/>
              </a:rPr>
              <a:t>admin</a:t>
            </a:r>
            <a:endParaRPr b="0" i="0" sz="1050" u="none" cap="none" strike="noStrike">
              <a:solidFill>
                <a:schemeClr val="dk1"/>
              </a:solidFill>
              <a:latin typeface="Arial"/>
              <a:ea typeface="Arial"/>
              <a:cs typeface="Arial"/>
              <a:sym typeface="Arial"/>
            </a:endParaRPr>
          </a:p>
        </p:txBody>
      </p:sp>
      <p:sp>
        <p:nvSpPr>
          <p:cNvPr id="82" name="Google Shape;82;p8"/>
          <p:cNvSpPr/>
          <p:nvPr/>
        </p:nvSpPr>
        <p:spPr>
          <a:xfrm>
            <a:off x="3794760" y="2331720"/>
            <a:ext cx="1645920" cy="868680"/>
          </a:xfrm>
          <a:prstGeom prst="roundRect">
            <a:avLst>
              <a:gd fmla="val 10526" name="adj"/>
            </a:avLst>
          </a:prstGeom>
          <a:solidFill>
            <a:srgbClr val="FFFFFF"/>
          </a:solidFill>
          <a:ln cap="flat" cmpd="sng" w="15225">
            <a:solidFill>
              <a:srgbClr val="2E6F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840480" y="2404872"/>
            <a:ext cx="1554480" cy="7406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100"/>
              <a:buFont typeface="Arial"/>
              <a:buNone/>
            </a:pPr>
            <a:r>
              <a:rPr b="1" i="0" lang="en-US" sz="1100" u="none" cap="none" strike="noStrike">
                <a:solidFill>
                  <a:srgbClr val="1C1B1A"/>
                </a:solidFill>
                <a:latin typeface="Arial"/>
                <a:ea typeface="Arial"/>
                <a:cs typeface="Arial"/>
                <a:sym typeface="Arial"/>
              </a:rPr>
              <a:t>Flask app</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100"/>
              <a:buFont typeface="Arial"/>
              <a:buNone/>
            </a:pPr>
            <a:r>
              <a:rPr b="1" i="0" lang="en-US" sz="1100" u="none" cap="none" strike="noStrike">
                <a:solidFill>
                  <a:srgbClr val="1C1B1A"/>
                </a:solidFill>
                <a:latin typeface="Arial"/>
                <a:ea typeface="Arial"/>
                <a:cs typeface="Arial"/>
                <a:sym typeface="Arial"/>
              </a:rPr>
              <a:t>app.py</a:t>
            </a:r>
            <a:endParaRPr b="0" i="0" sz="1100" u="none" cap="none" strike="noStrike">
              <a:solidFill>
                <a:schemeClr val="dk1"/>
              </a:solidFill>
              <a:latin typeface="Arial"/>
              <a:ea typeface="Arial"/>
              <a:cs typeface="Arial"/>
              <a:sym typeface="Arial"/>
            </a:endParaRPr>
          </a:p>
        </p:txBody>
      </p:sp>
      <p:sp>
        <p:nvSpPr>
          <p:cNvPr id="84" name="Google Shape;84;p8"/>
          <p:cNvSpPr/>
          <p:nvPr/>
        </p:nvSpPr>
        <p:spPr>
          <a:xfrm>
            <a:off x="6583680" y="1508760"/>
            <a:ext cx="1417320" cy="640080"/>
          </a:xfrm>
          <a:prstGeom prst="roundRect">
            <a:avLst>
              <a:gd fmla="val 14286" name="adj"/>
            </a:avLst>
          </a:prstGeom>
          <a:solidFill>
            <a:srgbClr val="FFFFFF"/>
          </a:solidFill>
          <a:ln cap="flat" cmpd="sng" w="15225">
            <a:solidFill>
              <a:srgbClr val="3D7D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6629400" y="1581912"/>
            <a:ext cx="132588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Auth</a:t>
            </a:r>
            <a:endParaRPr b="0" i="0" sz="1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Routes</a:t>
            </a:r>
            <a:endParaRPr b="0" i="0" sz="1000" u="none" cap="none" strike="noStrike">
              <a:solidFill>
                <a:schemeClr val="dk1"/>
              </a:solidFill>
              <a:latin typeface="Arial"/>
              <a:ea typeface="Arial"/>
              <a:cs typeface="Arial"/>
              <a:sym typeface="Arial"/>
            </a:endParaRPr>
          </a:p>
        </p:txBody>
      </p:sp>
      <p:sp>
        <p:nvSpPr>
          <p:cNvPr id="86" name="Google Shape;86;p8"/>
          <p:cNvSpPr/>
          <p:nvPr/>
        </p:nvSpPr>
        <p:spPr>
          <a:xfrm>
            <a:off x="6583680" y="2514600"/>
            <a:ext cx="1417320" cy="640080"/>
          </a:xfrm>
          <a:prstGeom prst="roundRect">
            <a:avLst>
              <a:gd fmla="val 14286" name="adj"/>
            </a:avLst>
          </a:prstGeom>
          <a:solidFill>
            <a:srgbClr val="FFFFFF"/>
          </a:solidFill>
          <a:ln cap="flat" cmpd="sng" w="15225">
            <a:solidFill>
              <a:srgbClr val="3D7D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6629400" y="2587752"/>
            <a:ext cx="132588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Menu / Basket</a:t>
            </a:r>
            <a:endParaRPr b="0" i="0" sz="1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Routes</a:t>
            </a:r>
            <a:endParaRPr b="0" i="0" sz="1000" u="none" cap="none" strike="noStrike">
              <a:solidFill>
                <a:schemeClr val="dk1"/>
              </a:solidFill>
              <a:latin typeface="Arial"/>
              <a:ea typeface="Arial"/>
              <a:cs typeface="Arial"/>
              <a:sym typeface="Arial"/>
            </a:endParaRPr>
          </a:p>
        </p:txBody>
      </p:sp>
      <p:sp>
        <p:nvSpPr>
          <p:cNvPr id="88" name="Google Shape;88;p8"/>
          <p:cNvSpPr/>
          <p:nvPr/>
        </p:nvSpPr>
        <p:spPr>
          <a:xfrm>
            <a:off x="6583680" y="3520440"/>
            <a:ext cx="1417320" cy="640080"/>
          </a:xfrm>
          <a:prstGeom prst="roundRect">
            <a:avLst>
              <a:gd fmla="val 14286" name="adj"/>
            </a:avLst>
          </a:prstGeom>
          <a:solidFill>
            <a:srgbClr val="FFFFFF"/>
          </a:solidFill>
          <a:ln cap="flat" cmpd="sng" w="15225">
            <a:solidFill>
              <a:srgbClr val="3D7D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a:off x="6629400" y="3593592"/>
            <a:ext cx="132588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Checkout</a:t>
            </a:r>
            <a:endParaRPr b="0" i="0" sz="1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Routes</a:t>
            </a:r>
            <a:endParaRPr b="0" i="0" sz="1000" u="none" cap="none" strike="noStrike">
              <a:solidFill>
                <a:schemeClr val="dk1"/>
              </a:solidFill>
              <a:latin typeface="Arial"/>
              <a:ea typeface="Arial"/>
              <a:cs typeface="Arial"/>
              <a:sym typeface="Arial"/>
            </a:endParaRPr>
          </a:p>
        </p:txBody>
      </p:sp>
      <p:sp>
        <p:nvSpPr>
          <p:cNvPr id="90" name="Google Shape;90;p8"/>
          <p:cNvSpPr/>
          <p:nvPr/>
        </p:nvSpPr>
        <p:spPr>
          <a:xfrm>
            <a:off x="9235440" y="1508760"/>
            <a:ext cx="1783080" cy="640080"/>
          </a:xfrm>
          <a:prstGeom prst="roundRect">
            <a:avLst>
              <a:gd fmla="val 14286" name="adj"/>
            </a:avLst>
          </a:prstGeom>
          <a:solidFill>
            <a:srgbClr val="FFFFFF"/>
          </a:solidFill>
          <a:ln cap="flat" cmpd="sng" w="15225">
            <a:solidFill>
              <a:srgbClr val="A5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9281160" y="1581912"/>
            <a:ext cx="169164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Jinja HTML</a:t>
            </a:r>
            <a:endParaRPr b="0" i="0" sz="1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templates</a:t>
            </a:r>
            <a:endParaRPr b="0" i="0" sz="1000" u="none" cap="none" strike="noStrike">
              <a:solidFill>
                <a:schemeClr val="dk1"/>
              </a:solidFill>
              <a:latin typeface="Arial"/>
              <a:ea typeface="Arial"/>
              <a:cs typeface="Arial"/>
              <a:sym typeface="Arial"/>
            </a:endParaRPr>
          </a:p>
        </p:txBody>
      </p:sp>
      <p:sp>
        <p:nvSpPr>
          <p:cNvPr id="92" name="Google Shape;92;p8"/>
          <p:cNvSpPr/>
          <p:nvPr/>
        </p:nvSpPr>
        <p:spPr>
          <a:xfrm>
            <a:off x="9235440" y="2514600"/>
            <a:ext cx="1783080" cy="640080"/>
          </a:xfrm>
          <a:prstGeom prst="roundRect">
            <a:avLst>
              <a:gd fmla="val 14286" name="adj"/>
            </a:avLst>
          </a:prstGeom>
          <a:solidFill>
            <a:srgbClr val="FFFFFF"/>
          </a:solidFill>
          <a:ln cap="flat" cmpd="sng" w="15225">
            <a:solidFill>
              <a:srgbClr val="A5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9281160" y="2587752"/>
            <a:ext cx="169164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MySQL</a:t>
            </a:r>
            <a:endParaRPr b="0" i="0" sz="1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database</a:t>
            </a:r>
            <a:endParaRPr b="0" i="0" sz="1000" u="none" cap="none" strike="noStrike">
              <a:solidFill>
                <a:schemeClr val="dk1"/>
              </a:solidFill>
              <a:latin typeface="Arial"/>
              <a:ea typeface="Arial"/>
              <a:cs typeface="Arial"/>
              <a:sym typeface="Arial"/>
            </a:endParaRPr>
          </a:p>
        </p:txBody>
      </p:sp>
      <p:sp>
        <p:nvSpPr>
          <p:cNvPr id="94" name="Google Shape;94;p8"/>
          <p:cNvSpPr/>
          <p:nvPr/>
        </p:nvSpPr>
        <p:spPr>
          <a:xfrm>
            <a:off x="9235440" y="3520440"/>
            <a:ext cx="1783080" cy="640080"/>
          </a:xfrm>
          <a:prstGeom prst="roundRect">
            <a:avLst>
              <a:gd fmla="val 14286" name="adj"/>
            </a:avLst>
          </a:prstGeom>
          <a:solidFill>
            <a:srgbClr val="FFFFFF"/>
          </a:solidFill>
          <a:ln cap="flat" cmpd="sng" w="15225">
            <a:solidFill>
              <a:srgbClr val="A5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a:off x="9281160" y="3593592"/>
            <a:ext cx="169164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Stripe</a:t>
            </a:r>
            <a:endParaRPr b="0" i="0" sz="1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PaymentIntent</a:t>
            </a:r>
            <a:endParaRPr b="0" i="0" sz="1000" u="none" cap="none" strike="noStrike">
              <a:solidFill>
                <a:schemeClr val="dk1"/>
              </a:solidFill>
              <a:latin typeface="Arial"/>
              <a:ea typeface="Arial"/>
              <a:cs typeface="Arial"/>
              <a:sym typeface="Arial"/>
            </a:endParaRPr>
          </a:p>
        </p:txBody>
      </p:sp>
      <p:sp>
        <p:nvSpPr>
          <p:cNvPr id="96" name="Google Shape;96;p8"/>
          <p:cNvSpPr/>
          <p:nvPr/>
        </p:nvSpPr>
        <p:spPr>
          <a:xfrm>
            <a:off x="3474700" y="4288680"/>
            <a:ext cx="2011800" cy="685800"/>
          </a:xfrm>
          <a:prstGeom prst="roundRect">
            <a:avLst>
              <a:gd fmla="val 13333" name="adj"/>
            </a:avLst>
          </a:prstGeom>
          <a:solidFill>
            <a:srgbClr val="FFFFFF"/>
          </a:solidFill>
          <a:ln cap="flat" cmpd="sng" w="15225">
            <a:solidFill>
              <a:srgbClr val="C992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3520445" y="4288682"/>
            <a:ext cx="1920300" cy="557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Docker + Kubernetes</a:t>
            </a:r>
            <a:endParaRPr b="0" i="0" sz="1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C1B1A"/>
              </a:buClr>
              <a:buSzPts val="1000"/>
              <a:buFont typeface="Arial"/>
              <a:buNone/>
            </a:pPr>
            <a:r>
              <a:rPr b="1" i="0" lang="en-US" sz="1000" u="none" cap="none" strike="noStrike">
                <a:solidFill>
                  <a:srgbClr val="1C1B1A"/>
                </a:solidFill>
                <a:latin typeface="Arial"/>
                <a:ea typeface="Arial"/>
                <a:cs typeface="Arial"/>
                <a:sym typeface="Arial"/>
              </a:rPr>
              <a:t>deployment.yaml</a:t>
            </a:r>
            <a:endParaRPr b="0" i="0" sz="1000" u="none" cap="none" strike="noStrike">
              <a:solidFill>
                <a:schemeClr val="dk1"/>
              </a:solidFill>
              <a:latin typeface="Arial"/>
              <a:ea typeface="Arial"/>
              <a:cs typeface="Arial"/>
              <a:sym typeface="Arial"/>
            </a:endParaRPr>
          </a:p>
        </p:txBody>
      </p:sp>
      <p:sp>
        <p:nvSpPr>
          <p:cNvPr id="97" name="Google Shape;97;p8"/>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cxnSp>
        <p:nvCxnSpPr>
          <p:cNvPr id="98" name="Google Shape;98;p8"/>
          <p:cNvCxnSpPr>
            <a:stCxn id="85" idx="3"/>
            <a:endCxn id="93" idx="1"/>
          </p:cNvCxnSpPr>
          <p:nvPr/>
        </p:nvCxnSpPr>
        <p:spPr>
          <a:xfrm>
            <a:off x="7955280" y="1837944"/>
            <a:ext cx="1326000" cy="1005900"/>
          </a:xfrm>
          <a:prstGeom prst="straightConnector1">
            <a:avLst/>
          </a:prstGeom>
          <a:noFill/>
          <a:ln cap="flat" cmpd="sng" w="16500">
            <a:solidFill>
              <a:srgbClr val="A55A3A">
                <a:alpha val="94900"/>
              </a:srgbClr>
            </a:solidFill>
            <a:prstDash val="solid"/>
            <a:round/>
            <a:headEnd len="sm" w="sm" type="none"/>
            <a:tailEnd len="med" w="med" type="triangle"/>
          </a:ln>
        </p:spPr>
      </p:cxnSp>
      <p:cxnSp>
        <p:nvCxnSpPr>
          <p:cNvPr id="99" name="Google Shape;99;p8"/>
          <p:cNvCxnSpPr>
            <a:stCxn id="87" idx="3"/>
            <a:endCxn id="91" idx="1"/>
          </p:cNvCxnSpPr>
          <p:nvPr/>
        </p:nvCxnSpPr>
        <p:spPr>
          <a:xfrm flipH="1" rot="10800000">
            <a:off x="7955280" y="1837884"/>
            <a:ext cx="1326000" cy="1005900"/>
          </a:xfrm>
          <a:prstGeom prst="straightConnector1">
            <a:avLst/>
          </a:prstGeom>
          <a:noFill/>
          <a:ln cap="flat" cmpd="sng" w="16500">
            <a:solidFill>
              <a:srgbClr val="A55A3A">
                <a:alpha val="94900"/>
              </a:srgbClr>
            </a:solidFill>
            <a:prstDash val="solid"/>
            <a:round/>
            <a:headEnd len="sm" w="sm" type="none"/>
            <a:tailEnd len="med" w="med" type="triangle"/>
          </a:ln>
        </p:spPr>
      </p:cxnSp>
      <p:cxnSp>
        <p:nvCxnSpPr>
          <p:cNvPr id="100" name="Google Shape;100;p8"/>
          <p:cNvCxnSpPr>
            <a:stCxn id="89" idx="3"/>
            <a:endCxn id="93" idx="1"/>
          </p:cNvCxnSpPr>
          <p:nvPr/>
        </p:nvCxnSpPr>
        <p:spPr>
          <a:xfrm flipH="1" rot="10800000">
            <a:off x="7955280" y="2843724"/>
            <a:ext cx="1326000" cy="1005900"/>
          </a:xfrm>
          <a:prstGeom prst="straightConnector1">
            <a:avLst/>
          </a:prstGeom>
          <a:noFill/>
          <a:ln cap="flat" cmpd="sng" w="16500">
            <a:solidFill>
              <a:srgbClr val="A55A3A">
                <a:alpha val="94900"/>
              </a:srgbClr>
            </a:solidFill>
            <a:prstDash val="solid"/>
            <a:round/>
            <a:headEnd len="sm" w="sm" type="none"/>
            <a:tailEnd len="med" w="med" type="triangle"/>
          </a:ln>
        </p:spPr>
      </p:cxnSp>
      <p:cxnSp>
        <p:nvCxnSpPr>
          <p:cNvPr id="101" name="Google Shape;101;p8"/>
          <p:cNvCxnSpPr>
            <a:stCxn id="88" idx="3"/>
            <a:endCxn id="91" idx="1"/>
          </p:cNvCxnSpPr>
          <p:nvPr/>
        </p:nvCxnSpPr>
        <p:spPr>
          <a:xfrm flipH="1" rot="10800000">
            <a:off x="8001000" y="1837980"/>
            <a:ext cx="1280100" cy="2002500"/>
          </a:xfrm>
          <a:prstGeom prst="straightConnector1">
            <a:avLst/>
          </a:prstGeom>
          <a:noFill/>
          <a:ln cap="flat" cmpd="sng" w="16500">
            <a:solidFill>
              <a:srgbClr val="A55A3A">
                <a:alpha val="94900"/>
              </a:srgbClr>
            </a:solidFill>
            <a:prstDash val="solid"/>
            <a:round/>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9"/>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Sprint diagram: delivery roadmap</a:t>
            </a:r>
            <a:endParaRPr b="0" i="0" sz="2600" u="none" cap="none" strike="noStrike">
              <a:solidFill>
                <a:schemeClr val="dk1"/>
              </a:solidFill>
              <a:latin typeface="Arial"/>
              <a:ea typeface="Arial"/>
              <a:cs typeface="Arial"/>
              <a:sym typeface="Arial"/>
            </a:endParaRPr>
          </a:p>
        </p:txBody>
      </p:sp>
      <p:cxnSp>
        <p:nvCxnSpPr>
          <p:cNvPr id="108" name="Google Shape;108;p9"/>
          <p:cNvCxnSpPr/>
          <p:nvPr/>
        </p:nvCxnSpPr>
        <p:spPr>
          <a:xfrm>
            <a:off x="2606040" y="1874520"/>
            <a:ext cx="640080" cy="0"/>
          </a:xfrm>
          <a:prstGeom prst="straightConnector1">
            <a:avLst/>
          </a:prstGeom>
          <a:noFill/>
          <a:ln cap="flat" cmpd="sng" w="22850">
            <a:solidFill>
              <a:srgbClr val="2E6F95">
                <a:alpha val="94901"/>
              </a:srgbClr>
            </a:solidFill>
            <a:prstDash val="solid"/>
            <a:round/>
            <a:headEnd len="sm" w="sm" type="none"/>
            <a:tailEnd len="med" w="med" type="triangle"/>
          </a:ln>
        </p:spPr>
      </p:cxnSp>
      <p:cxnSp>
        <p:nvCxnSpPr>
          <p:cNvPr id="109" name="Google Shape;109;p9"/>
          <p:cNvCxnSpPr/>
          <p:nvPr/>
        </p:nvCxnSpPr>
        <p:spPr>
          <a:xfrm>
            <a:off x="5257800" y="1874520"/>
            <a:ext cx="640080" cy="0"/>
          </a:xfrm>
          <a:prstGeom prst="straightConnector1">
            <a:avLst/>
          </a:prstGeom>
          <a:noFill/>
          <a:ln cap="flat" cmpd="sng" w="22850">
            <a:solidFill>
              <a:srgbClr val="2E6F95">
                <a:alpha val="94901"/>
              </a:srgbClr>
            </a:solidFill>
            <a:prstDash val="solid"/>
            <a:round/>
            <a:headEnd len="sm" w="sm" type="none"/>
            <a:tailEnd len="med" w="med" type="triangle"/>
          </a:ln>
        </p:spPr>
      </p:cxnSp>
      <p:cxnSp>
        <p:nvCxnSpPr>
          <p:cNvPr id="110" name="Google Shape;110;p9"/>
          <p:cNvCxnSpPr/>
          <p:nvPr/>
        </p:nvCxnSpPr>
        <p:spPr>
          <a:xfrm>
            <a:off x="7909560" y="1874520"/>
            <a:ext cx="640080" cy="0"/>
          </a:xfrm>
          <a:prstGeom prst="straightConnector1">
            <a:avLst/>
          </a:prstGeom>
          <a:noFill/>
          <a:ln cap="flat" cmpd="sng" w="22850">
            <a:solidFill>
              <a:srgbClr val="2E6F95">
                <a:alpha val="94901"/>
              </a:srgbClr>
            </a:solidFill>
            <a:prstDash val="solid"/>
            <a:round/>
            <a:headEnd len="sm" w="sm" type="none"/>
            <a:tailEnd len="med" w="med" type="triangle"/>
          </a:ln>
        </p:spPr>
      </p:cxnSp>
      <p:sp>
        <p:nvSpPr>
          <p:cNvPr id="111" name="Google Shape;111;p9"/>
          <p:cNvSpPr/>
          <p:nvPr/>
        </p:nvSpPr>
        <p:spPr>
          <a:xfrm>
            <a:off x="731520" y="1325880"/>
            <a:ext cx="2057400" cy="1097280"/>
          </a:xfrm>
          <a:prstGeom prst="chevron">
            <a:avLst>
              <a:gd fmla="val 50000" name="adj"/>
            </a:avLst>
          </a:prstGeom>
          <a:solidFill>
            <a:srgbClr val="2E6F95">
              <a:alpha val="9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987473" y="1554536"/>
            <a:ext cx="1691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Sprint 1</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Foundation</a:t>
            </a:r>
            <a:endParaRPr b="0" i="0" sz="1400" u="none" cap="none" strike="noStrike">
              <a:solidFill>
                <a:schemeClr val="dk1"/>
              </a:solidFill>
              <a:latin typeface="Arial"/>
              <a:ea typeface="Arial"/>
              <a:cs typeface="Arial"/>
              <a:sym typeface="Arial"/>
            </a:endParaRPr>
          </a:p>
        </p:txBody>
      </p:sp>
      <p:sp>
        <p:nvSpPr>
          <p:cNvPr id="113" name="Google Shape;113;p9"/>
          <p:cNvSpPr/>
          <p:nvPr/>
        </p:nvSpPr>
        <p:spPr>
          <a:xfrm>
            <a:off x="777240" y="2880360"/>
            <a:ext cx="2011680" cy="1234440"/>
          </a:xfrm>
          <a:prstGeom prst="rect">
            <a:avLst/>
          </a:prstGeom>
          <a:noFill/>
          <a:ln>
            <a:noFill/>
          </a:ln>
        </p:spPr>
        <p:txBody>
          <a:bodyPr anchorCtr="0" anchor="t" bIns="625" lIns="625" spcFirstLastPara="1" rIns="625" wrap="square" tIns="625">
            <a:noAutofit/>
          </a:bodyPr>
          <a:lstStyle/>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Schema + dummy data</a:t>
            </a:r>
            <a:endParaRPr b="0" i="0" sz="1250" u="none" cap="none" strike="noStrike">
              <a:solidFill>
                <a:schemeClr val="dk1"/>
              </a:solidFill>
              <a:latin typeface="Arial"/>
              <a:ea typeface="Arial"/>
              <a:cs typeface="Arial"/>
              <a:sym typeface="Arial"/>
            </a:endParaRPr>
          </a:p>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Flask skeleton</a:t>
            </a:r>
            <a:endParaRPr b="0" i="0" sz="1250" u="none" cap="none" strike="noStrike">
              <a:solidFill>
                <a:schemeClr val="dk1"/>
              </a:solidFill>
              <a:latin typeface="Arial"/>
              <a:ea typeface="Arial"/>
              <a:cs typeface="Arial"/>
              <a:sym typeface="Arial"/>
            </a:endParaRPr>
          </a:p>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Templates + routing</a:t>
            </a:r>
            <a:endParaRPr b="0" i="0" sz="1250" u="none" cap="none" strike="noStrike">
              <a:solidFill>
                <a:srgbClr val="1C1B1A"/>
              </a:solidFill>
              <a:latin typeface="Arial"/>
              <a:ea typeface="Arial"/>
              <a:cs typeface="Arial"/>
              <a:sym typeface="Arial"/>
            </a:endParaRPr>
          </a:p>
          <a:p>
            <a:pPr indent="-165100" lvl="0" marL="152400" marR="0" rtl="0" algn="l">
              <a:spcBef>
                <a:spcPts val="0"/>
              </a:spcBef>
              <a:spcAft>
                <a:spcPts val="0"/>
              </a:spcAft>
              <a:buClr>
                <a:srgbClr val="1C1B1A"/>
              </a:buClr>
              <a:buSzPts val="1250"/>
              <a:buChar char="•"/>
            </a:pPr>
            <a:r>
              <a:rPr lang="en-US" sz="1250">
                <a:solidFill>
                  <a:srgbClr val="1C1B1A"/>
                </a:solidFill>
              </a:rPr>
              <a:t>File Structure</a:t>
            </a:r>
            <a:endParaRPr sz="1250">
              <a:solidFill>
                <a:srgbClr val="1C1B1A"/>
              </a:solidFill>
            </a:endParaRPr>
          </a:p>
        </p:txBody>
      </p:sp>
      <p:sp>
        <p:nvSpPr>
          <p:cNvPr id="114" name="Google Shape;114;p9"/>
          <p:cNvSpPr/>
          <p:nvPr/>
        </p:nvSpPr>
        <p:spPr>
          <a:xfrm>
            <a:off x="777240" y="4297680"/>
            <a:ext cx="1920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6F95"/>
              </a:buClr>
              <a:buSzPts val="950"/>
              <a:buFont typeface="Arial"/>
              <a:buNone/>
            </a:pPr>
            <a:r>
              <a:rPr b="1" i="0" lang="en-US" sz="1150" u="none" cap="none" strike="noStrike">
                <a:solidFill>
                  <a:srgbClr val="2E6F95"/>
                </a:solidFill>
                <a:latin typeface="Arial"/>
                <a:ea typeface="Arial"/>
                <a:cs typeface="Arial"/>
                <a:sym typeface="Arial"/>
              </a:rPr>
              <a:t>Reliability gate</a:t>
            </a:r>
            <a:endParaRPr b="0" i="0" sz="1150" u="none" cap="none" strike="noStrike">
              <a:solidFill>
                <a:schemeClr val="dk1"/>
              </a:solidFill>
              <a:latin typeface="Arial"/>
              <a:ea typeface="Arial"/>
              <a:cs typeface="Arial"/>
              <a:sym typeface="Arial"/>
            </a:endParaRPr>
          </a:p>
        </p:txBody>
      </p:sp>
      <p:sp>
        <p:nvSpPr>
          <p:cNvPr id="115" name="Google Shape;115;p9"/>
          <p:cNvSpPr/>
          <p:nvPr/>
        </p:nvSpPr>
        <p:spPr>
          <a:xfrm>
            <a:off x="777240" y="4608576"/>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950"/>
              <a:buFont typeface="Arial"/>
              <a:buNone/>
            </a:pPr>
            <a:r>
              <a:rPr b="0" i="0" lang="en-US" sz="1150" u="none" cap="none" strike="noStrike">
                <a:solidFill>
                  <a:srgbClr val="655E55"/>
                </a:solidFill>
                <a:latin typeface="Arial"/>
                <a:ea typeface="Arial"/>
                <a:cs typeface="Arial"/>
                <a:sym typeface="Arial"/>
              </a:rPr>
              <a:t>DB connects + schema loads</a:t>
            </a:r>
            <a:endParaRPr b="0" i="0" sz="1150" u="none" cap="none" strike="noStrike">
              <a:solidFill>
                <a:schemeClr val="dk1"/>
              </a:solidFill>
              <a:latin typeface="Arial"/>
              <a:ea typeface="Arial"/>
              <a:cs typeface="Arial"/>
              <a:sym typeface="Arial"/>
            </a:endParaRPr>
          </a:p>
        </p:txBody>
      </p:sp>
      <p:sp>
        <p:nvSpPr>
          <p:cNvPr id="116" name="Google Shape;116;p9"/>
          <p:cNvSpPr/>
          <p:nvPr/>
        </p:nvSpPr>
        <p:spPr>
          <a:xfrm>
            <a:off x="3383280" y="1325880"/>
            <a:ext cx="2057400" cy="1097280"/>
          </a:xfrm>
          <a:prstGeom prst="chevron">
            <a:avLst>
              <a:gd fmla="val 50000" name="adj"/>
            </a:avLst>
          </a:prstGeom>
          <a:solidFill>
            <a:srgbClr val="3D7D5A">
              <a:alpha val="9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3703758" y="1554548"/>
            <a:ext cx="1691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Sprint 2</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Core journeys</a:t>
            </a:r>
            <a:endParaRPr b="0" i="0" sz="1400" u="none" cap="none" strike="noStrike">
              <a:solidFill>
                <a:schemeClr val="dk1"/>
              </a:solidFill>
              <a:latin typeface="Arial"/>
              <a:ea typeface="Arial"/>
              <a:cs typeface="Arial"/>
              <a:sym typeface="Arial"/>
            </a:endParaRPr>
          </a:p>
        </p:txBody>
      </p:sp>
      <p:sp>
        <p:nvSpPr>
          <p:cNvPr id="118" name="Google Shape;118;p9"/>
          <p:cNvSpPr/>
          <p:nvPr/>
        </p:nvSpPr>
        <p:spPr>
          <a:xfrm>
            <a:off x="3429000" y="2880360"/>
            <a:ext cx="2011680" cy="1234440"/>
          </a:xfrm>
          <a:prstGeom prst="rect">
            <a:avLst/>
          </a:prstGeom>
          <a:noFill/>
          <a:ln>
            <a:noFill/>
          </a:ln>
        </p:spPr>
        <p:txBody>
          <a:bodyPr anchorCtr="0" anchor="t" bIns="625" lIns="625" spcFirstLastPara="1" rIns="625" wrap="square" tIns="625">
            <a:noAutofit/>
          </a:bodyPr>
          <a:lstStyle/>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Register/login</a:t>
            </a:r>
            <a:endParaRPr b="0" i="0" sz="1250" u="none" cap="none" strike="noStrike">
              <a:solidFill>
                <a:schemeClr val="dk1"/>
              </a:solidFill>
              <a:latin typeface="Arial"/>
              <a:ea typeface="Arial"/>
              <a:cs typeface="Arial"/>
              <a:sym typeface="Arial"/>
            </a:endParaRPr>
          </a:p>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Menu + basket</a:t>
            </a:r>
            <a:endParaRPr b="0" i="0" sz="1250" u="none" cap="none" strike="noStrike">
              <a:solidFill>
                <a:schemeClr val="dk1"/>
              </a:solidFill>
              <a:latin typeface="Arial"/>
              <a:ea typeface="Arial"/>
              <a:cs typeface="Arial"/>
              <a:sym typeface="Arial"/>
            </a:endParaRPr>
          </a:p>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Bookings flow</a:t>
            </a:r>
            <a:endParaRPr sz="1250">
              <a:solidFill>
                <a:srgbClr val="1C1B1A"/>
              </a:solidFill>
            </a:endParaRPr>
          </a:p>
        </p:txBody>
      </p:sp>
      <p:sp>
        <p:nvSpPr>
          <p:cNvPr id="119" name="Google Shape;119;p9"/>
          <p:cNvSpPr/>
          <p:nvPr/>
        </p:nvSpPr>
        <p:spPr>
          <a:xfrm>
            <a:off x="3429000" y="4297680"/>
            <a:ext cx="1920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7D5A"/>
              </a:buClr>
              <a:buSzPts val="950"/>
              <a:buFont typeface="Arial"/>
              <a:buNone/>
            </a:pPr>
            <a:r>
              <a:rPr b="1" i="0" lang="en-US" sz="1150" u="none" cap="none" strike="noStrike">
                <a:solidFill>
                  <a:srgbClr val="3D7D5A"/>
                </a:solidFill>
                <a:latin typeface="Arial"/>
                <a:ea typeface="Arial"/>
                <a:cs typeface="Arial"/>
                <a:sym typeface="Arial"/>
              </a:rPr>
              <a:t>Reliability gate</a:t>
            </a:r>
            <a:endParaRPr b="0" i="0" sz="1150" u="none" cap="none" strike="noStrike">
              <a:solidFill>
                <a:schemeClr val="dk1"/>
              </a:solidFill>
              <a:latin typeface="Arial"/>
              <a:ea typeface="Arial"/>
              <a:cs typeface="Arial"/>
              <a:sym typeface="Arial"/>
            </a:endParaRPr>
          </a:p>
        </p:txBody>
      </p:sp>
      <p:sp>
        <p:nvSpPr>
          <p:cNvPr id="120" name="Google Shape;120;p9"/>
          <p:cNvSpPr/>
          <p:nvPr/>
        </p:nvSpPr>
        <p:spPr>
          <a:xfrm>
            <a:off x="3429000" y="4608576"/>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950"/>
              <a:buFont typeface="Arial"/>
              <a:buNone/>
            </a:pPr>
            <a:r>
              <a:rPr lang="en-US" sz="1150">
                <a:solidFill>
                  <a:srgbClr val="655E55"/>
                </a:solidFill>
              </a:rPr>
              <a:t>Customer journeys </a:t>
            </a:r>
            <a:r>
              <a:rPr b="0" i="0" lang="en-US" sz="1150" u="none" cap="none" strike="noStrike">
                <a:solidFill>
                  <a:srgbClr val="655E55"/>
                </a:solidFill>
                <a:latin typeface="Arial"/>
                <a:ea typeface="Arial"/>
                <a:cs typeface="Arial"/>
                <a:sym typeface="Arial"/>
              </a:rPr>
              <a:t>are </a:t>
            </a:r>
            <a:r>
              <a:rPr lang="en-US" sz="1150">
                <a:solidFill>
                  <a:srgbClr val="655E55"/>
                </a:solidFill>
              </a:rPr>
              <a:t>functional</a:t>
            </a:r>
            <a:endParaRPr b="0" i="0" sz="1150" u="none" cap="none" strike="noStrike">
              <a:solidFill>
                <a:schemeClr val="dk1"/>
              </a:solidFill>
              <a:latin typeface="Arial"/>
              <a:ea typeface="Arial"/>
              <a:cs typeface="Arial"/>
              <a:sym typeface="Arial"/>
            </a:endParaRPr>
          </a:p>
        </p:txBody>
      </p:sp>
      <p:sp>
        <p:nvSpPr>
          <p:cNvPr id="121" name="Google Shape;121;p9"/>
          <p:cNvSpPr/>
          <p:nvPr/>
        </p:nvSpPr>
        <p:spPr>
          <a:xfrm>
            <a:off x="6035040" y="1325880"/>
            <a:ext cx="2057400" cy="1097280"/>
          </a:xfrm>
          <a:prstGeom prst="chevron">
            <a:avLst>
              <a:gd fmla="val 50000" name="adj"/>
            </a:avLst>
          </a:prstGeom>
          <a:solidFill>
            <a:srgbClr val="C9923A">
              <a:alpha val="9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6272780" y="1554473"/>
            <a:ext cx="1691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Sprint 3</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Payment + </a:t>
            </a:r>
            <a:endParaRPr b="1" i="0" sz="1400" u="none" cap="none" strike="noStrike">
              <a:solidFill>
                <a:srgbClr val="FFFFFF"/>
              </a:solidFill>
              <a:latin typeface="Arial"/>
              <a:ea typeface="Arial"/>
              <a:cs typeface="Arial"/>
              <a:sym typeface="Arial"/>
            </a:endParaRPr>
          </a:p>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rewards</a:t>
            </a:r>
            <a:endParaRPr b="0" i="0" sz="1400" u="none" cap="none" strike="noStrike">
              <a:solidFill>
                <a:schemeClr val="dk1"/>
              </a:solidFill>
              <a:latin typeface="Arial"/>
              <a:ea typeface="Arial"/>
              <a:cs typeface="Arial"/>
              <a:sym typeface="Arial"/>
            </a:endParaRPr>
          </a:p>
        </p:txBody>
      </p:sp>
      <p:sp>
        <p:nvSpPr>
          <p:cNvPr id="123" name="Google Shape;123;p9"/>
          <p:cNvSpPr/>
          <p:nvPr/>
        </p:nvSpPr>
        <p:spPr>
          <a:xfrm>
            <a:off x="6080760" y="2880360"/>
            <a:ext cx="2011680" cy="1234440"/>
          </a:xfrm>
          <a:prstGeom prst="rect">
            <a:avLst/>
          </a:prstGeom>
          <a:noFill/>
          <a:ln>
            <a:noFill/>
          </a:ln>
        </p:spPr>
        <p:txBody>
          <a:bodyPr anchorCtr="0" anchor="t" bIns="625" lIns="625" spcFirstLastPara="1" rIns="625" wrap="square" tIns="625">
            <a:noAutofit/>
          </a:bodyPr>
          <a:lstStyle/>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Vouchers</a:t>
            </a:r>
            <a:endParaRPr b="0" i="0" sz="1250" u="none" cap="none" strike="noStrike">
              <a:solidFill>
                <a:schemeClr val="dk1"/>
              </a:solidFill>
              <a:latin typeface="Arial"/>
              <a:ea typeface="Arial"/>
              <a:cs typeface="Arial"/>
              <a:sym typeface="Arial"/>
            </a:endParaRPr>
          </a:p>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Stripe PaymentIntent</a:t>
            </a:r>
            <a:endParaRPr b="0" i="0" sz="1250" u="none" cap="none" strike="noStrike">
              <a:solidFill>
                <a:schemeClr val="dk1"/>
              </a:solidFill>
              <a:latin typeface="Arial"/>
              <a:ea typeface="Arial"/>
              <a:cs typeface="Arial"/>
              <a:sym typeface="Arial"/>
            </a:endParaRPr>
          </a:p>
          <a:p>
            <a:pPr indent="-165100" lvl="0" marL="152400" marR="0" rtl="0" algn="l">
              <a:spcBef>
                <a:spcPts val="0"/>
              </a:spcBef>
              <a:spcAft>
                <a:spcPts val="0"/>
              </a:spcAft>
              <a:buClr>
                <a:srgbClr val="1C1B1A"/>
              </a:buClr>
              <a:buSzPts val="1250"/>
              <a:buFont typeface="Arial"/>
              <a:buChar char="•"/>
            </a:pPr>
            <a:r>
              <a:rPr b="0" i="0" lang="en-US" sz="1250" u="none" cap="none" strike="noStrike">
                <a:solidFill>
                  <a:srgbClr val="1C1B1A"/>
                </a:solidFill>
                <a:latin typeface="Arial"/>
                <a:ea typeface="Arial"/>
                <a:cs typeface="Arial"/>
                <a:sym typeface="Arial"/>
              </a:rPr>
              <a:t>Payment history</a:t>
            </a:r>
            <a:endParaRPr b="0" i="0" sz="1250" u="none" cap="none" strike="noStrike">
              <a:solidFill>
                <a:schemeClr val="dk1"/>
              </a:solidFill>
              <a:latin typeface="Arial"/>
              <a:ea typeface="Arial"/>
              <a:cs typeface="Arial"/>
              <a:sym typeface="Arial"/>
            </a:endParaRPr>
          </a:p>
        </p:txBody>
      </p:sp>
      <p:sp>
        <p:nvSpPr>
          <p:cNvPr id="124" name="Google Shape;124;p9"/>
          <p:cNvSpPr/>
          <p:nvPr/>
        </p:nvSpPr>
        <p:spPr>
          <a:xfrm>
            <a:off x="6080760" y="4297680"/>
            <a:ext cx="19203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923A"/>
              </a:buClr>
              <a:buSzPts val="950"/>
              <a:buFont typeface="Arial"/>
              <a:buNone/>
            </a:pPr>
            <a:r>
              <a:rPr b="1" i="0" lang="en-US" sz="1150" u="none" cap="none" strike="noStrike">
                <a:solidFill>
                  <a:srgbClr val="C9923A"/>
                </a:solidFill>
                <a:latin typeface="Arial"/>
                <a:ea typeface="Arial"/>
                <a:cs typeface="Arial"/>
                <a:sym typeface="Arial"/>
              </a:rPr>
              <a:t>Reliability gate</a:t>
            </a:r>
            <a:endParaRPr b="0" i="0" sz="1150" u="none" cap="none" strike="noStrike">
              <a:solidFill>
                <a:schemeClr val="dk1"/>
              </a:solidFill>
              <a:latin typeface="Arial"/>
              <a:ea typeface="Arial"/>
              <a:cs typeface="Arial"/>
              <a:sym typeface="Arial"/>
            </a:endParaRPr>
          </a:p>
        </p:txBody>
      </p:sp>
      <p:sp>
        <p:nvSpPr>
          <p:cNvPr id="125" name="Google Shape;125;p9"/>
          <p:cNvSpPr/>
          <p:nvPr/>
        </p:nvSpPr>
        <p:spPr>
          <a:xfrm>
            <a:off x="6080760" y="4608576"/>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950"/>
              <a:buFont typeface="Arial"/>
              <a:buNone/>
            </a:pPr>
            <a:r>
              <a:rPr b="0" i="0" lang="en-US" sz="1150" u="none" cap="none" strike="noStrike">
                <a:solidFill>
                  <a:srgbClr val="655E55"/>
                </a:solidFill>
                <a:latin typeface="Arial"/>
                <a:ea typeface="Arial"/>
                <a:cs typeface="Arial"/>
                <a:sym typeface="Arial"/>
              </a:rPr>
              <a:t>Payment writes are verified</a:t>
            </a:r>
            <a:endParaRPr b="0" i="0" sz="1150" u="none" cap="none" strike="noStrike">
              <a:solidFill>
                <a:schemeClr val="dk1"/>
              </a:solidFill>
              <a:latin typeface="Arial"/>
              <a:ea typeface="Arial"/>
              <a:cs typeface="Arial"/>
              <a:sym typeface="Arial"/>
            </a:endParaRPr>
          </a:p>
        </p:txBody>
      </p:sp>
      <p:sp>
        <p:nvSpPr>
          <p:cNvPr id="126" name="Google Shape;126;p9"/>
          <p:cNvSpPr/>
          <p:nvPr/>
        </p:nvSpPr>
        <p:spPr>
          <a:xfrm>
            <a:off x="8686800" y="1325880"/>
            <a:ext cx="2057400" cy="1097280"/>
          </a:xfrm>
          <a:prstGeom prst="chevron">
            <a:avLst>
              <a:gd fmla="val 50000" name="adj"/>
            </a:avLst>
          </a:prstGeom>
          <a:solidFill>
            <a:srgbClr val="A55A3A">
              <a:alpha val="9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
          <p:cNvSpPr/>
          <p:nvPr/>
        </p:nvSpPr>
        <p:spPr>
          <a:xfrm>
            <a:off x="8961053" y="1623136"/>
            <a:ext cx="1691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Sprint 4</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400"/>
              <a:buFont typeface="Arial"/>
              <a:buNone/>
            </a:pPr>
            <a:r>
              <a:rPr b="1" lang="en-US">
                <a:solidFill>
                  <a:srgbClr val="FFFFFF"/>
                </a:solidFill>
              </a:rPr>
              <a:t>Docker + Kubernetes</a:t>
            </a:r>
            <a:endParaRPr b="0" i="0" sz="1400" u="none" cap="none" strike="noStrike">
              <a:solidFill>
                <a:schemeClr val="dk1"/>
              </a:solidFill>
              <a:latin typeface="Arial"/>
              <a:ea typeface="Arial"/>
              <a:cs typeface="Arial"/>
              <a:sym typeface="Arial"/>
            </a:endParaRPr>
          </a:p>
        </p:txBody>
      </p:sp>
      <p:sp>
        <p:nvSpPr>
          <p:cNvPr id="128" name="Google Shape;128;p9"/>
          <p:cNvSpPr/>
          <p:nvPr/>
        </p:nvSpPr>
        <p:spPr>
          <a:xfrm>
            <a:off x="8732526" y="2880350"/>
            <a:ext cx="2423700" cy="1234500"/>
          </a:xfrm>
          <a:prstGeom prst="rect">
            <a:avLst/>
          </a:prstGeom>
          <a:noFill/>
          <a:ln>
            <a:noFill/>
          </a:ln>
        </p:spPr>
        <p:txBody>
          <a:bodyPr anchorCtr="0" anchor="t" bIns="625" lIns="625" spcFirstLastPara="1" rIns="625" wrap="square" tIns="625">
            <a:noAutofit/>
          </a:bodyPr>
          <a:lstStyle/>
          <a:p>
            <a:pPr indent="-165100" lvl="0" marL="152400" marR="0" rtl="0" algn="l">
              <a:spcBef>
                <a:spcPts val="0"/>
              </a:spcBef>
              <a:spcAft>
                <a:spcPts val="0"/>
              </a:spcAft>
              <a:buClr>
                <a:srgbClr val="1C1B1A"/>
              </a:buClr>
              <a:buSzPts val="1250"/>
              <a:buFont typeface="Arial"/>
              <a:buChar char="•"/>
            </a:pPr>
            <a:r>
              <a:rPr lang="en-US" sz="1250">
                <a:solidFill>
                  <a:srgbClr val="1C1B1A"/>
                </a:solidFill>
              </a:rPr>
              <a:t>Dockerfile creation</a:t>
            </a:r>
            <a:endParaRPr sz="1250">
              <a:solidFill>
                <a:srgbClr val="1C1B1A"/>
              </a:solidFill>
            </a:endParaRPr>
          </a:p>
          <a:p>
            <a:pPr indent="-165100" lvl="0" marL="152400" marR="0" rtl="0" algn="l">
              <a:spcBef>
                <a:spcPts val="0"/>
              </a:spcBef>
              <a:spcAft>
                <a:spcPts val="0"/>
              </a:spcAft>
              <a:buClr>
                <a:srgbClr val="1C1B1A"/>
              </a:buClr>
              <a:buSzPts val="1250"/>
              <a:buChar char="•"/>
            </a:pPr>
            <a:r>
              <a:rPr lang="en-US" sz="1250">
                <a:solidFill>
                  <a:srgbClr val="1C1B1A"/>
                </a:solidFill>
              </a:rPr>
              <a:t>containerised flask </a:t>
            </a:r>
            <a:r>
              <a:rPr lang="en-US" sz="1250">
                <a:solidFill>
                  <a:srgbClr val="1C1B1A"/>
                </a:solidFill>
              </a:rPr>
              <a:t>application</a:t>
            </a:r>
            <a:endParaRPr sz="1250">
              <a:solidFill>
                <a:srgbClr val="1C1B1A"/>
              </a:solidFill>
            </a:endParaRPr>
          </a:p>
          <a:p>
            <a:pPr indent="-165100" lvl="0" marL="152400" marR="0" rtl="0" algn="l">
              <a:spcBef>
                <a:spcPts val="0"/>
              </a:spcBef>
              <a:spcAft>
                <a:spcPts val="0"/>
              </a:spcAft>
              <a:buClr>
                <a:srgbClr val="1C1B1A"/>
              </a:buClr>
              <a:buSzPts val="1250"/>
              <a:buChar char="•"/>
            </a:pPr>
            <a:r>
              <a:rPr lang="en-US" sz="1250">
                <a:solidFill>
                  <a:srgbClr val="1C1B1A"/>
                </a:solidFill>
              </a:rPr>
              <a:t>Kubernetes deployment.yaml</a:t>
            </a:r>
            <a:endParaRPr sz="1250">
              <a:solidFill>
                <a:srgbClr val="1C1B1A"/>
              </a:solidFill>
            </a:endParaRPr>
          </a:p>
          <a:p>
            <a:pPr indent="-165100" lvl="0" marL="152400" marR="0" rtl="0" algn="l">
              <a:spcBef>
                <a:spcPts val="0"/>
              </a:spcBef>
              <a:spcAft>
                <a:spcPts val="0"/>
              </a:spcAft>
              <a:buClr>
                <a:srgbClr val="1C1B1A"/>
              </a:buClr>
              <a:buSzPts val="1250"/>
              <a:buChar char="•"/>
            </a:pPr>
            <a:r>
              <a:rPr lang="en-US" sz="1250">
                <a:solidFill>
                  <a:srgbClr val="1C1B1A"/>
                </a:solidFill>
              </a:rPr>
              <a:t>Environment variables and secrets</a:t>
            </a:r>
            <a:endParaRPr sz="1250">
              <a:solidFill>
                <a:srgbClr val="1C1B1A"/>
              </a:solidFill>
            </a:endParaRPr>
          </a:p>
        </p:txBody>
      </p:sp>
      <p:sp>
        <p:nvSpPr>
          <p:cNvPr id="129" name="Google Shape;129;p9"/>
          <p:cNvSpPr/>
          <p:nvPr/>
        </p:nvSpPr>
        <p:spPr>
          <a:xfrm>
            <a:off x="8732520" y="4297680"/>
            <a:ext cx="1920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3A"/>
              </a:buClr>
              <a:buSzPts val="950"/>
              <a:buFont typeface="Arial"/>
              <a:buNone/>
            </a:pPr>
            <a:r>
              <a:rPr b="1" i="0" lang="en-US" sz="1150" u="none" cap="none" strike="noStrike">
                <a:solidFill>
                  <a:srgbClr val="A55A3A"/>
                </a:solidFill>
                <a:latin typeface="Arial"/>
                <a:ea typeface="Arial"/>
                <a:cs typeface="Arial"/>
                <a:sym typeface="Arial"/>
              </a:rPr>
              <a:t>Reliability gate</a:t>
            </a:r>
            <a:endParaRPr b="0" i="0" sz="1150" u="none" cap="none" strike="noStrike">
              <a:solidFill>
                <a:schemeClr val="dk1"/>
              </a:solidFill>
              <a:latin typeface="Arial"/>
              <a:ea typeface="Arial"/>
              <a:cs typeface="Arial"/>
              <a:sym typeface="Arial"/>
            </a:endParaRPr>
          </a:p>
        </p:txBody>
      </p:sp>
      <p:sp>
        <p:nvSpPr>
          <p:cNvPr id="130" name="Google Shape;130;p9"/>
          <p:cNvSpPr/>
          <p:nvPr/>
        </p:nvSpPr>
        <p:spPr>
          <a:xfrm>
            <a:off x="8732520" y="4608576"/>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950"/>
              <a:buFont typeface="Arial"/>
              <a:buNone/>
            </a:pPr>
            <a:r>
              <a:rPr lang="en-US" sz="1150">
                <a:solidFill>
                  <a:srgbClr val="655E55"/>
                </a:solidFill>
              </a:rPr>
              <a:t>Application deploys successfully in Kubernetes and can be redeployed consistently </a:t>
            </a:r>
            <a:endParaRPr b="0" i="0" sz="1150" u="none" cap="none" strike="noStrike">
              <a:solidFill>
                <a:schemeClr val="dk1"/>
              </a:solidFill>
              <a:latin typeface="Arial"/>
              <a:ea typeface="Arial"/>
              <a:cs typeface="Arial"/>
              <a:sym typeface="Arial"/>
            </a:endParaRPr>
          </a:p>
        </p:txBody>
      </p:sp>
      <p:sp>
        <p:nvSpPr>
          <p:cNvPr id="131" name="Google Shape;131;p9"/>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Codebase map</a:t>
            </a:r>
            <a:endParaRPr b="0" i="0" sz="2600" u="none" cap="none" strike="noStrike">
              <a:solidFill>
                <a:schemeClr val="dk1"/>
              </a:solidFill>
              <a:latin typeface="Arial"/>
              <a:ea typeface="Arial"/>
              <a:cs typeface="Arial"/>
              <a:sym typeface="Arial"/>
            </a:endParaRPr>
          </a:p>
        </p:txBody>
      </p:sp>
      <p:sp>
        <p:nvSpPr>
          <p:cNvPr id="138" name="Google Shape;138;p10"/>
          <p:cNvSpPr/>
          <p:nvPr/>
        </p:nvSpPr>
        <p:spPr>
          <a:xfrm>
            <a:off x="685800" y="1234440"/>
            <a:ext cx="3749040" cy="4480560"/>
          </a:xfrm>
          <a:prstGeom prst="roundRect">
            <a:avLst>
              <a:gd fmla="val 2927" name="adj"/>
            </a:avLst>
          </a:prstGeom>
          <a:solidFill>
            <a:srgbClr val="FFFFFF"/>
          </a:solidFill>
          <a:ln cap="flat" cmpd="sng" w="12700">
            <a:solidFill>
              <a:srgbClr val="D8C4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
          <p:cNvSpPr/>
          <p:nvPr/>
        </p:nvSpPr>
        <p:spPr>
          <a:xfrm>
            <a:off x="914400" y="1508760"/>
            <a:ext cx="3291840" cy="388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c447_team03_restaurant_management_project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app.py</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db.py</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routes/</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 auth.py</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 menu.py</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 checkout.py</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 dashboard.py</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templates/</a:t>
            </a:r>
            <a:endParaRPr sz="1120">
              <a:solidFill>
                <a:srgbClr val="14222C"/>
              </a:solidFill>
              <a:latin typeface="Consolas"/>
              <a:ea typeface="Consolas"/>
              <a:cs typeface="Consolas"/>
              <a:sym typeface="Consolas"/>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static/</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database/</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 schema.sql</a:t>
            </a:r>
            <a:endParaRPr sz="1120">
              <a:solidFill>
                <a:srgbClr val="14222C"/>
              </a:solidFill>
              <a:latin typeface="Consolas"/>
              <a:ea typeface="Consolas"/>
              <a:cs typeface="Consolas"/>
              <a:sym typeface="Consolas"/>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 dummy_data.sql</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Dockerfile</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4222C"/>
              </a:buClr>
              <a:buSzPts val="1120"/>
              <a:buFont typeface="Consolas"/>
              <a:buNone/>
            </a:pPr>
            <a:r>
              <a:rPr b="0" i="0" lang="en-US" sz="1120" u="none" cap="none" strike="noStrike">
                <a:solidFill>
                  <a:srgbClr val="14222C"/>
                </a:solidFill>
                <a:latin typeface="Consolas"/>
                <a:ea typeface="Consolas"/>
                <a:cs typeface="Consolas"/>
                <a:sym typeface="Consolas"/>
              </a:rPr>
              <a:t>└── deployment.yaml</a:t>
            </a:r>
            <a:endParaRPr b="0" i="0" sz="1120" u="none" cap="none" strike="noStrike">
              <a:solidFill>
                <a:schemeClr val="dk1"/>
              </a:solidFill>
              <a:latin typeface="Arial"/>
              <a:ea typeface="Arial"/>
              <a:cs typeface="Arial"/>
              <a:sym typeface="Arial"/>
            </a:endParaRPr>
          </a:p>
        </p:txBody>
      </p:sp>
      <p:sp>
        <p:nvSpPr>
          <p:cNvPr id="140" name="Google Shape;140;p10"/>
          <p:cNvSpPr/>
          <p:nvPr/>
        </p:nvSpPr>
        <p:spPr>
          <a:xfrm>
            <a:off x="4892040" y="123444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000"/>
              <a:buFont typeface="Arial"/>
              <a:buNone/>
            </a:pPr>
            <a:r>
              <a:rPr b="1" i="0" lang="en-US" sz="2000" u="none" cap="none" strike="noStrike">
                <a:solidFill>
                  <a:srgbClr val="1C1B1A"/>
                </a:solidFill>
                <a:latin typeface="Arial"/>
                <a:ea typeface="Arial"/>
                <a:cs typeface="Arial"/>
                <a:sym typeface="Arial"/>
              </a:rPr>
              <a:t>What each layer does</a:t>
            </a:r>
            <a:endParaRPr b="0" i="0" sz="2000" u="none" cap="none" strike="noStrike">
              <a:solidFill>
                <a:schemeClr val="dk1"/>
              </a:solidFill>
              <a:latin typeface="Arial"/>
              <a:ea typeface="Arial"/>
              <a:cs typeface="Arial"/>
              <a:sym typeface="Arial"/>
            </a:endParaRPr>
          </a:p>
        </p:txBody>
      </p:sp>
      <p:sp>
        <p:nvSpPr>
          <p:cNvPr id="141" name="Google Shape;141;p10"/>
          <p:cNvSpPr/>
          <p:nvPr/>
        </p:nvSpPr>
        <p:spPr>
          <a:xfrm>
            <a:off x="4937760" y="1783080"/>
            <a:ext cx="6035040" cy="2240280"/>
          </a:xfrm>
          <a:prstGeom prst="rect">
            <a:avLst/>
          </a:prstGeom>
          <a:noFill/>
          <a:ln>
            <a:noFill/>
          </a:ln>
        </p:spPr>
        <p:txBody>
          <a:bodyPr anchorCtr="0" anchor="t" bIns="625" lIns="625" spcFirstLastPara="1" rIns="625" wrap="square" tIns="625">
            <a:noAutofit/>
          </a:bodyPr>
          <a:lstStyle/>
          <a:p>
            <a:pPr indent="-152400" lvl="0" marL="152400" marR="0" rtl="0" algn="l">
              <a:spcBef>
                <a:spcPts val="0"/>
              </a:spcBef>
              <a:spcAft>
                <a:spcPts val="0"/>
              </a:spcAft>
              <a:buClr>
                <a:srgbClr val="1C1B1A"/>
              </a:buClr>
              <a:buSzPts val="1350"/>
              <a:buFont typeface="Arial"/>
              <a:buChar char="•"/>
            </a:pPr>
            <a:r>
              <a:rPr b="0" i="0" lang="en-US" sz="1350" u="none" cap="none" strike="noStrike">
                <a:solidFill>
                  <a:srgbClr val="1C1B1A"/>
                </a:solidFill>
                <a:latin typeface="Arial"/>
                <a:ea typeface="Arial"/>
                <a:cs typeface="Arial"/>
                <a:sym typeface="Arial"/>
              </a:rPr>
              <a:t>app.py wires Flask and route blueprints</a:t>
            </a:r>
            <a:endParaRPr b="0" i="0" sz="1350" u="none" cap="none" strike="noStrike">
              <a:solidFill>
                <a:srgbClr val="1C1B1A"/>
              </a:solidFill>
              <a:latin typeface="Arial"/>
              <a:ea typeface="Arial"/>
              <a:cs typeface="Arial"/>
              <a:sym typeface="Arial"/>
            </a:endParaRPr>
          </a:p>
          <a:p>
            <a:pPr indent="0" lvl="0" marL="457200" marR="0" rtl="0" algn="l">
              <a:spcBef>
                <a:spcPts val="0"/>
              </a:spcBef>
              <a:spcAft>
                <a:spcPts val="0"/>
              </a:spcAft>
              <a:buNone/>
            </a:pPr>
            <a:r>
              <a:t/>
            </a:r>
            <a:endParaRPr sz="1350">
              <a:solidFill>
                <a:srgbClr val="1C1B1A"/>
              </a:solidFill>
            </a:endParaRPr>
          </a:p>
          <a:p>
            <a:pPr indent="-152400" lvl="0" marL="152400" marR="0" rtl="0" algn="l">
              <a:spcBef>
                <a:spcPts val="0"/>
              </a:spcBef>
              <a:spcAft>
                <a:spcPts val="0"/>
              </a:spcAft>
              <a:buClr>
                <a:srgbClr val="1C1B1A"/>
              </a:buClr>
              <a:buSzPts val="1350"/>
              <a:buFont typeface="Arial"/>
              <a:buChar char="•"/>
            </a:pPr>
            <a:r>
              <a:rPr b="0" i="0" lang="en-US" sz="1350" u="none" cap="none" strike="noStrike">
                <a:solidFill>
                  <a:srgbClr val="1C1B1A"/>
                </a:solidFill>
                <a:latin typeface="Arial"/>
                <a:ea typeface="Arial"/>
                <a:cs typeface="Arial"/>
                <a:sym typeface="Arial"/>
              </a:rPr>
              <a:t>routes/ contains business flows: auth, menu, basket, checkout</a:t>
            </a:r>
            <a:endParaRPr b="0" i="0" sz="1350" u="none" cap="none" strike="noStrike">
              <a:solidFill>
                <a:srgbClr val="1C1B1A"/>
              </a:solidFill>
              <a:latin typeface="Arial"/>
              <a:ea typeface="Arial"/>
              <a:cs typeface="Arial"/>
              <a:sym typeface="Arial"/>
            </a:endParaRPr>
          </a:p>
          <a:p>
            <a:pPr indent="0" lvl="0" marL="457200" marR="0" rtl="0" algn="l">
              <a:spcBef>
                <a:spcPts val="0"/>
              </a:spcBef>
              <a:spcAft>
                <a:spcPts val="0"/>
              </a:spcAft>
              <a:buNone/>
            </a:pPr>
            <a:r>
              <a:t/>
            </a:r>
            <a:endParaRPr sz="1350">
              <a:solidFill>
                <a:srgbClr val="1C1B1A"/>
              </a:solidFill>
            </a:endParaRPr>
          </a:p>
          <a:p>
            <a:pPr indent="-152400" lvl="0" marL="152400" marR="0" rtl="0" algn="l">
              <a:spcBef>
                <a:spcPts val="0"/>
              </a:spcBef>
              <a:spcAft>
                <a:spcPts val="0"/>
              </a:spcAft>
              <a:buClr>
                <a:srgbClr val="1C1B1A"/>
              </a:buClr>
              <a:buSzPts val="1350"/>
              <a:buFont typeface="Arial"/>
              <a:buChar char="•"/>
            </a:pPr>
            <a:r>
              <a:rPr b="0" i="0" lang="en-US" sz="1350" u="none" cap="none" strike="noStrike">
                <a:solidFill>
                  <a:srgbClr val="1C1B1A"/>
                </a:solidFill>
                <a:latin typeface="Arial"/>
                <a:ea typeface="Arial"/>
                <a:cs typeface="Arial"/>
                <a:sym typeface="Arial"/>
              </a:rPr>
              <a:t>templates/ and static/ define the customer-facing interface</a:t>
            </a:r>
            <a:endParaRPr b="0" i="0" sz="1350" u="none" cap="none" strike="noStrike">
              <a:solidFill>
                <a:srgbClr val="1C1B1A"/>
              </a:solidFill>
              <a:latin typeface="Arial"/>
              <a:ea typeface="Arial"/>
              <a:cs typeface="Arial"/>
              <a:sym typeface="Arial"/>
            </a:endParaRPr>
          </a:p>
          <a:p>
            <a:pPr indent="0" lvl="0" marL="457200" marR="0" rtl="0" algn="l">
              <a:spcBef>
                <a:spcPts val="0"/>
              </a:spcBef>
              <a:spcAft>
                <a:spcPts val="0"/>
              </a:spcAft>
              <a:buNone/>
            </a:pPr>
            <a:r>
              <a:t/>
            </a:r>
            <a:endParaRPr sz="1350">
              <a:solidFill>
                <a:srgbClr val="1C1B1A"/>
              </a:solidFill>
            </a:endParaRPr>
          </a:p>
          <a:p>
            <a:pPr indent="-152400" lvl="0" marL="152400" marR="0" rtl="0" algn="l">
              <a:spcBef>
                <a:spcPts val="0"/>
              </a:spcBef>
              <a:spcAft>
                <a:spcPts val="0"/>
              </a:spcAft>
              <a:buClr>
                <a:srgbClr val="1C1B1A"/>
              </a:buClr>
              <a:buSzPts val="1350"/>
              <a:buFont typeface="Arial"/>
              <a:buChar char="•"/>
            </a:pPr>
            <a:r>
              <a:rPr b="0" i="0" lang="en-US" sz="1350" u="none" cap="none" strike="noStrike">
                <a:solidFill>
                  <a:srgbClr val="1C1B1A"/>
                </a:solidFill>
                <a:latin typeface="Arial"/>
                <a:ea typeface="Arial"/>
                <a:cs typeface="Arial"/>
                <a:sym typeface="Arial"/>
              </a:rPr>
              <a:t>database/schema.sql defines the relational data model</a:t>
            </a:r>
            <a:endParaRPr b="0" i="0" sz="1350" u="none" cap="none" strike="noStrike">
              <a:solidFill>
                <a:srgbClr val="1C1B1A"/>
              </a:solidFill>
              <a:latin typeface="Arial"/>
              <a:ea typeface="Arial"/>
              <a:cs typeface="Arial"/>
              <a:sym typeface="Arial"/>
            </a:endParaRPr>
          </a:p>
          <a:p>
            <a:pPr indent="0" lvl="0" marL="457200" marR="0" rtl="0" algn="l">
              <a:spcBef>
                <a:spcPts val="0"/>
              </a:spcBef>
              <a:spcAft>
                <a:spcPts val="0"/>
              </a:spcAft>
              <a:buNone/>
            </a:pPr>
            <a:r>
              <a:t/>
            </a:r>
            <a:endParaRPr sz="1350">
              <a:solidFill>
                <a:srgbClr val="1C1B1A"/>
              </a:solidFill>
            </a:endParaRPr>
          </a:p>
          <a:p>
            <a:pPr indent="-152400" lvl="0" marL="152400" marR="0" rtl="0" algn="l">
              <a:spcBef>
                <a:spcPts val="0"/>
              </a:spcBef>
              <a:spcAft>
                <a:spcPts val="0"/>
              </a:spcAft>
              <a:buClr>
                <a:srgbClr val="1C1B1A"/>
              </a:buClr>
              <a:buSzPts val="1350"/>
              <a:buFont typeface="Arial"/>
              <a:buChar char="•"/>
            </a:pPr>
            <a:r>
              <a:rPr b="0" i="0" lang="en-US" sz="1350" u="none" cap="none" strike="noStrike">
                <a:solidFill>
                  <a:srgbClr val="1C1B1A"/>
                </a:solidFill>
                <a:latin typeface="Arial"/>
                <a:ea typeface="Arial"/>
                <a:cs typeface="Arial"/>
                <a:sym typeface="Arial"/>
              </a:rPr>
              <a:t>Dockerfile and deployment.yaml provide an initial deploy path</a:t>
            </a:r>
            <a:endParaRPr b="0" i="0" sz="1350" u="none" cap="none" strike="noStrike">
              <a:solidFill>
                <a:schemeClr val="dk1"/>
              </a:solidFill>
              <a:latin typeface="Arial"/>
              <a:ea typeface="Arial"/>
              <a:cs typeface="Arial"/>
              <a:sym typeface="Arial"/>
            </a:endParaRPr>
          </a:p>
        </p:txBody>
      </p:sp>
      <p:sp>
        <p:nvSpPr>
          <p:cNvPr id="142" name="Google Shape;142;p10"/>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lang="en-US" sz="2600">
                <a:solidFill>
                  <a:srgbClr val="1C1B1A"/>
                </a:solidFill>
                <a:latin typeface="Play"/>
                <a:ea typeface="Play"/>
                <a:cs typeface="Play"/>
                <a:sym typeface="Play"/>
              </a:rPr>
              <a:t>CSS and Styling</a:t>
            </a:r>
            <a:endParaRPr b="0" i="0" sz="2600" u="none" cap="none" strike="noStrike">
              <a:solidFill>
                <a:schemeClr val="dk1"/>
              </a:solidFill>
              <a:latin typeface="Arial"/>
              <a:ea typeface="Arial"/>
              <a:cs typeface="Arial"/>
              <a:sym typeface="Arial"/>
            </a:endParaRPr>
          </a:p>
        </p:txBody>
      </p:sp>
      <p:pic>
        <p:nvPicPr>
          <p:cNvPr descr="/mnt/data/restaurant1.jpg" id="149" name="Google Shape;149;p11"/>
          <p:cNvPicPr preferRelativeResize="0"/>
          <p:nvPr/>
        </p:nvPicPr>
        <p:blipFill rotWithShape="1">
          <a:blip r:embed="rId3">
            <a:alphaModFix/>
          </a:blip>
          <a:srcRect b="1672" l="0" r="0" t="1672"/>
          <a:stretch/>
        </p:blipFill>
        <p:spPr>
          <a:xfrm>
            <a:off x="685800" y="1143000"/>
            <a:ext cx="4709160" cy="2560320"/>
          </a:xfrm>
          <a:prstGeom prst="rect">
            <a:avLst/>
          </a:prstGeom>
          <a:noFill/>
          <a:ln>
            <a:noFill/>
          </a:ln>
        </p:spPr>
      </p:pic>
      <p:pic>
        <p:nvPicPr>
          <p:cNvPr descr="/mnt/data/chefs1.jpg" id="150" name="Google Shape;150;p11"/>
          <p:cNvPicPr preferRelativeResize="0"/>
          <p:nvPr/>
        </p:nvPicPr>
        <p:blipFill rotWithShape="1">
          <a:blip r:embed="rId4">
            <a:alphaModFix/>
          </a:blip>
          <a:srcRect b="0" l="15625" r="15625" t="0"/>
          <a:stretch/>
        </p:blipFill>
        <p:spPr>
          <a:xfrm>
            <a:off x="5715000" y="1143000"/>
            <a:ext cx="2514600" cy="1828800"/>
          </a:xfrm>
          <a:prstGeom prst="rect">
            <a:avLst/>
          </a:prstGeom>
          <a:noFill/>
          <a:ln>
            <a:noFill/>
          </a:ln>
        </p:spPr>
      </p:pic>
      <p:pic>
        <p:nvPicPr>
          <p:cNvPr descr="/mnt/data/signaturedish1.jpg" id="151" name="Google Shape;151;p11"/>
          <p:cNvPicPr preferRelativeResize="0"/>
          <p:nvPr/>
        </p:nvPicPr>
        <p:blipFill rotWithShape="1">
          <a:blip r:embed="rId5">
            <a:alphaModFix/>
          </a:blip>
          <a:srcRect b="0" l="4158" r="4158" t="0"/>
          <a:stretch/>
        </p:blipFill>
        <p:spPr>
          <a:xfrm>
            <a:off x="8458200" y="1143000"/>
            <a:ext cx="2514600" cy="1828800"/>
          </a:xfrm>
          <a:prstGeom prst="rect">
            <a:avLst/>
          </a:prstGeom>
          <a:noFill/>
          <a:ln>
            <a:noFill/>
          </a:ln>
        </p:spPr>
      </p:pic>
      <p:pic>
        <p:nvPicPr>
          <p:cNvPr descr="/mnt/data/wine1.jpg" id="152" name="Google Shape;152;p11"/>
          <p:cNvPicPr preferRelativeResize="0"/>
          <p:nvPr/>
        </p:nvPicPr>
        <p:blipFill rotWithShape="1">
          <a:blip r:embed="rId6">
            <a:alphaModFix/>
          </a:blip>
          <a:srcRect b="23867" l="0" r="0" t="23862"/>
          <a:stretch/>
        </p:blipFill>
        <p:spPr>
          <a:xfrm>
            <a:off x="5715000" y="3246120"/>
            <a:ext cx="5257801" cy="1828802"/>
          </a:xfrm>
          <a:prstGeom prst="rect">
            <a:avLst/>
          </a:prstGeom>
          <a:noFill/>
          <a:ln>
            <a:noFill/>
          </a:ln>
        </p:spPr>
      </p:pic>
      <p:sp>
        <p:nvSpPr>
          <p:cNvPr id="153" name="Google Shape;153;p11"/>
          <p:cNvSpPr/>
          <p:nvPr/>
        </p:nvSpPr>
        <p:spPr>
          <a:xfrm>
            <a:off x="731520" y="4069080"/>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1800"/>
              <a:buFont typeface="Arial"/>
              <a:buNone/>
            </a:pPr>
            <a:r>
              <a:rPr b="1" i="0" lang="en-US" sz="1800" u="none" cap="none" strike="noStrike">
                <a:solidFill>
                  <a:srgbClr val="1C1B1A"/>
                </a:solidFill>
                <a:latin typeface="Arial"/>
                <a:ea typeface="Arial"/>
                <a:cs typeface="Arial"/>
                <a:sym typeface="Arial"/>
              </a:rPr>
              <a:t>Visual identity</a:t>
            </a:r>
            <a:endParaRPr b="0" i="0" sz="1800" u="none" cap="none" strike="noStrike">
              <a:solidFill>
                <a:schemeClr val="dk1"/>
              </a:solidFill>
              <a:latin typeface="Arial"/>
              <a:ea typeface="Arial"/>
              <a:cs typeface="Arial"/>
              <a:sym typeface="Arial"/>
            </a:endParaRPr>
          </a:p>
        </p:txBody>
      </p:sp>
      <p:sp>
        <p:nvSpPr>
          <p:cNvPr id="154" name="Google Shape;154;p11"/>
          <p:cNvSpPr/>
          <p:nvPr/>
        </p:nvSpPr>
        <p:spPr>
          <a:xfrm>
            <a:off x="731520" y="4526280"/>
            <a:ext cx="4572000" cy="1188720"/>
          </a:xfrm>
          <a:prstGeom prst="rect">
            <a:avLst/>
          </a:prstGeom>
          <a:noFill/>
          <a:ln>
            <a:noFill/>
          </a:ln>
        </p:spPr>
        <p:txBody>
          <a:bodyPr anchorCtr="0" anchor="t" bIns="625" lIns="625" spcFirstLastPara="1" rIns="625" wrap="square" tIns="625">
            <a:noAutofit/>
          </a:bodyPr>
          <a:lstStyle/>
          <a:p>
            <a:pPr indent="-152400" lvl="0" marL="152400" marR="0" rtl="0" algn="l">
              <a:spcBef>
                <a:spcPts val="0"/>
              </a:spcBef>
              <a:spcAft>
                <a:spcPts val="0"/>
              </a:spcAft>
              <a:buClr>
                <a:srgbClr val="1C1B1A"/>
              </a:buClr>
              <a:buSzPts val="1150"/>
              <a:buFont typeface="Arial"/>
              <a:buChar char="•"/>
            </a:pPr>
            <a:r>
              <a:rPr b="0" i="0" lang="en-US" sz="1150" u="none" cap="none" strike="noStrike">
                <a:solidFill>
                  <a:srgbClr val="1C1B1A"/>
                </a:solidFill>
                <a:latin typeface="Arial"/>
                <a:ea typeface="Arial"/>
                <a:cs typeface="Arial"/>
                <a:sym typeface="Arial"/>
              </a:rPr>
              <a:t>Re</a:t>
            </a:r>
            <a:r>
              <a:rPr lang="en-US" sz="1150">
                <a:solidFill>
                  <a:srgbClr val="1C1B1A"/>
                </a:solidFill>
              </a:rPr>
              <a:t>staurant landing page</a:t>
            </a:r>
            <a:r>
              <a:rPr b="0" i="0" lang="en-US" sz="1150" u="none" cap="none" strike="noStrike">
                <a:solidFill>
                  <a:srgbClr val="1C1B1A"/>
                </a:solidFill>
                <a:latin typeface="Arial"/>
                <a:ea typeface="Arial"/>
                <a:cs typeface="Arial"/>
                <a:sym typeface="Arial"/>
              </a:rPr>
              <a:t> supports a</a:t>
            </a:r>
            <a:r>
              <a:rPr lang="en-US" sz="1150">
                <a:solidFill>
                  <a:srgbClr val="1C1B1A"/>
                </a:solidFill>
              </a:rPr>
              <a:t> premium feel</a:t>
            </a:r>
            <a:endParaRPr b="0" i="0" sz="1150" u="none" cap="none" strike="noStrike">
              <a:solidFill>
                <a:schemeClr val="dk1"/>
              </a:solidFill>
              <a:latin typeface="Arial"/>
              <a:ea typeface="Arial"/>
              <a:cs typeface="Arial"/>
              <a:sym typeface="Arial"/>
            </a:endParaRPr>
          </a:p>
          <a:p>
            <a:pPr indent="-152400" lvl="0" marL="152400" marR="0" rtl="0" algn="l">
              <a:spcBef>
                <a:spcPts val="0"/>
              </a:spcBef>
              <a:spcAft>
                <a:spcPts val="0"/>
              </a:spcAft>
              <a:buClr>
                <a:srgbClr val="1C1B1A"/>
              </a:buClr>
              <a:buSzPts val="1150"/>
              <a:buFont typeface="Arial"/>
              <a:buChar char="•"/>
            </a:pPr>
            <a:r>
              <a:rPr lang="en-US" sz="1150">
                <a:solidFill>
                  <a:srgbClr val="1C1B1A"/>
                </a:solidFill>
              </a:rPr>
              <a:t>Imagery to showcase different aspects of the restaurant which it is famous for.</a:t>
            </a:r>
            <a:endParaRPr b="0" i="0" sz="1150" u="none" cap="none" strike="noStrike">
              <a:solidFill>
                <a:schemeClr val="dk1"/>
              </a:solidFill>
              <a:latin typeface="Arial"/>
              <a:ea typeface="Arial"/>
              <a:cs typeface="Arial"/>
              <a:sym typeface="Arial"/>
            </a:endParaRPr>
          </a:p>
          <a:p>
            <a:pPr indent="-152400" lvl="0" marL="152400" marR="0" rtl="0" algn="l">
              <a:spcBef>
                <a:spcPts val="0"/>
              </a:spcBef>
              <a:spcAft>
                <a:spcPts val="0"/>
              </a:spcAft>
              <a:buClr>
                <a:srgbClr val="1C1B1A"/>
              </a:buClr>
              <a:buSzPts val="1150"/>
              <a:buFont typeface="Arial"/>
              <a:buChar char="•"/>
            </a:pPr>
            <a:r>
              <a:rPr b="0" i="0" lang="en-US" sz="1150" u="none" cap="none" strike="noStrike">
                <a:solidFill>
                  <a:srgbClr val="1C1B1A"/>
                </a:solidFill>
                <a:latin typeface="Arial"/>
                <a:ea typeface="Arial"/>
                <a:cs typeface="Arial"/>
                <a:sym typeface="Arial"/>
              </a:rPr>
              <a:t>CSS uses a hero section, cards, and responsive tables, sliding images to create an active responsive page.</a:t>
            </a:r>
            <a:endParaRPr b="0" i="0" sz="1150" u="none" cap="none" strike="noStrike">
              <a:solidFill>
                <a:srgbClr val="1C1B1A"/>
              </a:solidFill>
              <a:latin typeface="Arial"/>
              <a:ea typeface="Arial"/>
              <a:cs typeface="Arial"/>
              <a:sym typeface="Arial"/>
            </a:endParaRPr>
          </a:p>
          <a:p>
            <a:pPr indent="-152400" lvl="0" marL="152400" marR="0" rtl="0" algn="l">
              <a:spcBef>
                <a:spcPts val="0"/>
              </a:spcBef>
              <a:spcAft>
                <a:spcPts val="0"/>
              </a:spcAft>
              <a:buClr>
                <a:srgbClr val="1C1B1A"/>
              </a:buClr>
              <a:buSzPts val="1150"/>
              <a:buChar char="•"/>
            </a:pPr>
            <a:r>
              <a:rPr lang="en-US" sz="1150">
                <a:solidFill>
                  <a:srgbClr val="1C1B1A"/>
                </a:solidFill>
              </a:rPr>
              <a:t>Sticky navigation bar so that main pages are always accessible.</a:t>
            </a:r>
            <a:endParaRPr sz="1150">
              <a:solidFill>
                <a:srgbClr val="1C1B1A"/>
              </a:solidFill>
            </a:endParaRPr>
          </a:p>
        </p:txBody>
      </p:sp>
      <p:sp>
        <p:nvSpPr>
          <p:cNvPr id="155" name="Google Shape;155;p11"/>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2"/>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Code snippets: application wiring and configuration</a:t>
            </a:r>
            <a:endParaRPr b="0" i="0" sz="2600" u="none" cap="none" strike="noStrike">
              <a:solidFill>
                <a:schemeClr val="dk1"/>
              </a:solidFill>
              <a:latin typeface="Arial"/>
              <a:ea typeface="Arial"/>
              <a:cs typeface="Arial"/>
              <a:sym typeface="Arial"/>
            </a:endParaRPr>
          </a:p>
        </p:txBody>
      </p:sp>
      <p:sp>
        <p:nvSpPr>
          <p:cNvPr id="162" name="Google Shape;162;p12"/>
          <p:cNvSpPr/>
          <p:nvPr/>
        </p:nvSpPr>
        <p:spPr>
          <a:xfrm>
            <a:off x="548653" y="912481"/>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050"/>
              <a:buFont typeface="Arial"/>
              <a:buNone/>
            </a:pPr>
            <a:r>
              <a:rPr b="0" i="0" lang="en-US" sz="1050" u="none" cap="none" strike="noStrike">
                <a:solidFill>
                  <a:srgbClr val="655E55"/>
                </a:solidFill>
                <a:latin typeface="Arial"/>
                <a:ea typeface="Arial"/>
                <a:cs typeface="Arial"/>
                <a:sym typeface="Arial"/>
              </a:rPr>
              <a:t>Blueprints isolate business areas; environment variables isolate database configuration</a:t>
            </a:r>
            <a:endParaRPr b="0" i="0" sz="1050" u="none" cap="none" strike="noStrike">
              <a:solidFill>
                <a:schemeClr val="dk1"/>
              </a:solidFill>
              <a:latin typeface="Arial"/>
              <a:ea typeface="Arial"/>
              <a:cs typeface="Arial"/>
              <a:sym typeface="Arial"/>
            </a:endParaRPr>
          </a:p>
        </p:txBody>
      </p:sp>
      <p:sp>
        <p:nvSpPr>
          <p:cNvPr id="163" name="Google Shape;163;p12"/>
          <p:cNvSpPr/>
          <p:nvPr/>
        </p:nvSpPr>
        <p:spPr>
          <a:xfrm>
            <a:off x="685800" y="1234440"/>
            <a:ext cx="5166360" cy="3886200"/>
          </a:xfrm>
          <a:prstGeom prst="roundRect">
            <a:avLst>
              <a:gd fmla="val 1882" name="adj"/>
            </a:avLst>
          </a:prstGeom>
          <a:solidFill>
            <a:srgbClr val="14222C"/>
          </a:solidFill>
          <a:ln cap="flat" cmpd="sng" w="12700">
            <a:solidFill>
              <a:srgbClr val="2E3B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p:cNvSpPr/>
          <p:nvPr/>
        </p:nvSpPr>
        <p:spPr>
          <a:xfrm>
            <a:off x="795528" y="1344168"/>
            <a:ext cx="4946904" cy="3666744"/>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8292A2"/>
              </a:buClr>
              <a:buSzPts val="930"/>
              <a:buFont typeface="Consolas"/>
              <a:buNone/>
            </a:pPr>
            <a:r>
              <a:rPr b="0" i="0" lang="en-US" sz="930" u="none" cap="none" strike="noStrike">
                <a:solidFill>
                  <a:srgbClr val="8292A2"/>
                </a:solidFill>
                <a:latin typeface="Consolas"/>
                <a:ea typeface="Consolas"/>
                <a:cs typeface="Consolas"/>
                <a:sym typeface="Consolas"/>
              </a:rPr>
              <a:t> 1 </a:t>
            </a:r>
            <a:r>
              <a:rPr b="0" i="0" lang="en-US" sz="930" u="none" cap="none" strike="noStrike">
                <a:solidFill>
                  <a:srgbClr val="66D9EF"/>
                </a:solidFill>
                <a:latin typeface="Consolas"/>
                <a:ea typeface="Consolas"/>
                <a:cs typeface="Consolas"/>
                <a:sym typeface="Consolas"/>
              </a:rPr>
              <a:t>from</a:t>
            </a:r>
            <a:r>
              <a:rPr b="0" i="0" lang="en-US" sz="930" u="none" cap="none" strike="noStrike">
                <a:solidFill>
                  <a:srgbClr val="FFFFFF"/>
                </a:solidFill>
                <a:latin typeface="Consolas"/>
                <a:ea typeface="Consolas"/>
                <a:cs typeface="Consolas"/>
                <a:sym typeface="Consolas"/>
              </a:rPr>
              <a:t> flask </a:t>
            </a:r>
            <a:r>
              <a:rPr b="0" i="0" lang="en-US" sz="930" u="none" cap="none" strike="noStrike">
                <a:solidFill>
                  <a:srgbClr val="66D9EF"/>
                </a:solidFill>
                <a:latin typeface="Consolas"/>
                <a:ea typeface="Consolas"/>
                <a:cs typeface="Consolas"/>
                <a:sym typeface="Consolas"/>
              </a:rPr>
              <a:t>import</a:t>
            </a:r>
            <a:r>
              <a:rPr b="0" i="0" lang="en-US" sz="930" u="none" cap="none" strike="noStrike">
                <a:solidFill>
                  <a:srgbClr val="FFFFFF"/>
                </a:solidFill>
                <a:latin typeface="Consolas"/>
                <a:ea typeface="Consolas"/>
                <a:cs typeface="Consolas"/>
                <a:sym typeface="Consolas"/>
              </a:rPr>
              <a:t> Flask</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 render_template</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 2 </a:t>
            </a:r>
            <a:r>
              <a:rPr b="0" i="0" lang="en-US" sz="930" u="none" cap="none" strike="noStrike">
                <a:solidFill>
                  <a:srgbClr val="66D9EF"/>
                </a:solidFill>
                <a:latin typeface="Consolas"/>
                <a:ea typeface="Consolas"/>
                <a:cs typeface="Consolas"/>
                <a:sym typeface="Consolas"/>
              </a:rPr>
              <a:t>from</a:t>
            </a:r>
            <a:r>
              <a:rPr b="0" i="0" lang="en-US" sz="930" u="none" cap="none" strike="noStrike">
                <a:solidFill>
                  <a:srgbClr val="FFFFFF"/>
                </a:solidFill>
                <a:latin typeface="Consolas"/>
                <a:ea typeface="Consolas"/>
                <a:cs typeface="Consolas"/>
                <a:sym typeface="Consolas"/>
              </a:rPr>
              <a:t> routes</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checkout </a:t>
            </a:r>
            <a:r>
              <a:rPr b="0" i="0" lang="en-US" sz="930" u="none" cap="none" strike="noStrike">
                <a:solidFill>
                  <a:srgbClr val="66D9EF"/>
                </a:solidFill>
                <a:latin typeface="Consolas"/>
                <a:ea typeface="Consolas"/>
                <a:cs typeface="Consolas"/>
                <a:sym typeface="Consolas"/>
              </a:rPr>
              <a:t>import</a:t>
            </a:r>
            <a:r>
              <a:rPr b="0" i="0" lang="en-US" sz="930" u="none" cap="none" strike="noStrike">
                <a:solidFill>
                  <a:srgbClr val="FFFFFF"/>
                </a:solidFill>
                <a:latin typeface="Consolas"/>
                <a:ea typeface="Consolas"/>
                <a:cs typeface="Consolas"/>
                <a:sym typeface="Consolas"/>
              </a:rPr>
              <a:t> checkout</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 3 </a:t>
            </a:r>
            <a:r>
              <a:rPr b="0" i="0" lang="en-US" sz="930" u="none" cap="none" strike="noStrike">
                <a:solidFill>
                  <a:srgbClr val="66D9EF"/>
                </a:solidFill>
                <a:latin typeface="Consolas"/>
                <a:ea typeface="Consolas"/>
                <a:cs typeface="Consolas"/>
                <a:sym typeface="Consolas"/>
              </a:rPr>
              <a:t>from</a:t>
            </a:r>
            <a:r>
              <a:rPr b="0" i="0" lang="en-US" sz="930" u="none" cap="none" strike="noStrike">
                <a:solidFill>
                  <a:srgbClr val="FFFFFF"/>
                </a:solidFill>
                <a:latin typeface="Consolas"/>
                <a:ea typeface="Consolas"/>
                <a:cs typeface="Consolas"/>
                <a:sym typeface="Consolas"/>
              </a:rPr>
              <a:t> routes</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auth </a:t>
            </a:r>
            <a:r>
              <a:rPr b="0" i="0" lang="en-US" sz="930" u="none" cap="none" strike="noStrike">
                <a:solidFill>
                  <a:srgbClr val="66D9EF"/>
                </a:solidFill>
                <a:latin typeface="Consolas"/>
                <a:ea typeface="Consolas"/>
                <a:cs typeface="Consolas"/>
                <a:sym typeface="Consolas"/>
              </a:rPr>
              <a:t>import</a:t>
            </a:r>
            <a:r>
              <a:rPr b="0" i="0" lang="en-US" sz="930" u="none" cap="none" strike="noStrike">
                <a:solidFill>
                  <a:srgbClr val="FFFFFF"/>
                </a:solidFill>
                <a:latin typeface="Consolas"/>
                <a:ea typeface="Consolas"/>
                <a:cs typeface="Consolas"/>
                <a:sym typeface="Consolas"/>
              </a:rPr>
              <a:t> auth</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 4 </a:t>
            </a:r>
            <a:r>
              <a:rPr b="0" i="0" lang="en-US" sz="930" u="none" cap="none" strike="noStrike">
                <a:solidFill>
                  <a:srgbClr val="66D9EF"/>
                </a:solidFill>
                <a:latin typeface="Consolas"/>
                <a:ea typeface="Consolas"/>
                <a:cs typeface="Consolas"/>
                <a:sym typeface="Consolas"/>
              </a:rPr>
              <a:t>from</a:t>
            </a:r>
            <a:r>
              <a:rPr b="0" i="0" lang="en-US" sz="930" u="none" cap="none" strike="noStrike">
                <a:solidFill>
                  <a:srgbClr val="FFFFFF"/>
                </a:solidFill>
                <a:latin typeface="Consolas"/>
                <a:ea typeface="Consolas"/>
                <a:cs typeface="Consolas"/>
                <a:sym typeface="Consolas"/>
              </a:rPr>
              <a:t> routes</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dashboard </a:t>
            </a:r>
            <a:r>
              <a:rPr b="0" i="0" lang="en-US" sz="930" u="none" cap="none" strike="noStrike">
                <a:solidFill>
                  <a:srgbClr val="66D9EF"/>
                </a:solidFill>
                <a:latin typeface="Consolas"/>
                <a:ea typeface="Consolas"/>
                <a:cs typeface="Consolas"/>
                <a:sym typeface="Consolas"/>
              </a:rPr>
              <a:t>import</a:t>
            </a:r>
            <a:r>
              <a:rPr b="0" i="0" lang="en-US" sz="930" u="none" cap="none" strike="noStrike">
                <a:solidFill>
                  <a:srgbClr val="FFFFFF"/>
                </a:solidFill>
                <a:latin typeface="Consolas"/>
                <a:ea typeface="Consolas"/>
                <a:cs typeface="Consolas"/>
                <a:sym typeface="Consolas"/>
              </a:rPr>
              <a:t> dashboard_route</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 5 </a:t>
            </a:r>
            <a:r>
              <a:rPr b="0" i="0" lang="en-US" sz="930" u="none" cap="none" strike="noStrike">
                <a:solidFill>
                  <a:srgbClr val="66D9EF"/>
                </a:solidFill>
                <a:latin typeface="Consolas"/>
                <a:ea typeface="Consolas"/>
                <a:cs typeface="Consolas"/>
                <a:sym typeface="Consolas"/>
              </a:rPr>
              <a:t>from</a:t>
            </a:r>
            <a:r>
              <a:rPr b="0" i="0" lang="en-US" sz="930" u="none" cap="none" strike="noStrike">
                <a:solidFill>
                  <a:srgbClr val="FFFFFF"/>
                </a:solidFill>
                <a:latin typeface="Consolas"/>
                <a:ea typeface="Consolas"/>
                <a:cs typeface="Consolas"/>
                <a:sym typeface="Consolas"/>
              </a:rPr>
              <a:t> routes</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menu </a:t>
            </a:r>
            <a:r>
              <a:rPr b="0" i="0" lang="en-US" sz="930" u="none" cap="none" strike="noStrike">
                <a:solidFill>
                  <a:srgbClr val="66D9EF"/>
                </a:solidFill>
                <a:latin typeface="Consolas"/>
                <a:ea typeface="Consolas"/>
                <a:cs typeface="Consolas"/>
                <a:sym typeface="Consolas"/>
              </a:rPr>
              <a:t>import</a:t>
            </a:r>
            <a:r>
              <a:rPr b="0" i="0" lang="en-US" sz="930" u="none" cap="none" strike="noStrike">
                <a:solidFill>
                  <a:srgbClr val="FFFFFF"/>
                </a:solidFill>
                <a:latin typeface="Consolas"/>
                <a:ea typeface="Consolas"/>
                <a:cs typeface="Consolas"/>
                <a:sym typeface="Consolas"/>
              </a:rPr>
              <a:t> menu_bp</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 6 </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 7 </a:t>
            </a:r>
            <a:r>
              <a:rPr b="0" i="0" lang="en-US" sz="930" u="none" cap="none" strike="noStrike">
                <a:solidFill>
                  <a:srgbClr val="FFFFFF"/>
                </a:solidFill>
                <a:latin typeface="Consolas"/>
                <a:ea typeface="Consolas"/>
                <a:cs typeface="Consolas"/>
                <a:sym typeface="Consolas"/>
              </a:rPr>
              <a:t>app </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 Flask</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__name__</a:t>
            </a:r>
            <a:r>
              <a:rPr b="0" i="0" lang="en-US" sz="930" u="none" cap="none" strike="noStrike">
                <a:solidFill>
                  <a:srgbClr val="F8F8F2"/>
                </a:solidFill>
                <a:latin typeface="Consolas"/>
                <a:ea typeface="Consolas"/>
                <a:cs typeface="Consolas"/>
                <a:sym typeface="Consolas"/>
              </a:rPr>
              <a:t>)</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 8 </a:t>
            </a:r>
            <a:r>
              <a:rPr b="0" i="0" lang="en-US" sz="930" u="none" cap="none" strike="noStrike">
                <a:solidFill>
                  <a:srgbClr val="FFFFFF"/>
                </a:solidFill>
                <a:latin typeface="Consolas"/>
                <a:ea typeface="Consolas"/>
                <a:cs typeface="Consolas"/>
                <a:sym typeface="Consolas"/>
              </a:rPr>
              <a:t>app</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register_blueprint</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auth</a:t>
            </a:r>
            <a:r>
              <a:rPr b="0" i="0" lang="en-US" sz="930" u="none" cap="none" strike="noStrike">
                <a:solidFill>
                  <a:srgbClr val="F8F8F2"/>
                </a:solidFill>
                <a:latin typeface="Consolas"/>
                <a:ea typeface="Consolas"/>
                <a:cs typeface="Consolas"/>
                <a:sym typeface="Consolas"/>
              </a:rPr>
              <a:t>)</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 9 </a:t>
            </a:r>
            <a:r>
              <a:rPr b="0" i="0" lang="en-US" sz="930" u="none" cap="none" strike="noStrike">
                <a:solidFill>
                  <a:srgbClr val="FFFFFF"/>
                </a:solidFill>
                <a:latin typeface="Consolas"/>
                <a:ea typeface="Consolas"/>
                <a:cs typeface="Consolas"/>
                <a:sym typeface="Consolas"/>
              </a:rPr>
              <a:t>app</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register_blueprint</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dashboard_route</a:t>
            </a:r>
            <a:r>
              <a:rPr b="0" i="0" lang="en-US" sz="930" u="none" cap="none" strike="noStrike">
                <a:solidFill>
                  <a:srgbClr val="F8F8F2"/>
                </a:solidFill>
                <a:latin typeface="Consolas"/>
                <a:ea typeface="Consolas"/>
                <a:cs typeface="Consolas"/>
                <a:sym typeface="Consolas"/>
              </a:rPr>
              <a:t>)</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10 </a:t>
            </a:r>
            <a:r>
              <a:rPr b="0" i="0" lang="en-US" sz="930" u="none" cap="none" strike="noStrike">
                <a:solidFill>
                  <a:srgbClr val="FFFFFF"/>
                </a:solidFill>
                <a:latin typeface="Consolas"/>
                <a:ea typeface="Consolas"/>
                <a:cs typeface="Consolas"/>
                <a:sym typeface="Consolas"/>
              </a:rPr>
              <a:t>app</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register_blueprint</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checkout</a:t>
            </a:r>
            <a:r>
              <a:rPr b="0" i="0" lang="en-US" sz="930" u="none" cap="none" strike="noStrike">
                <a:solidFill>
                  <a:srgbClr val="F8F8F2"/>
                </a:solidFill>
                <a:latin typeface="Consolas"/>
                <a:ea typeface="Consolas"/>
                <a:cs typeface="Consolas"/>
                <a:sym typeface="Consolas"/>
              </a:rPr>
              <a:t>)</a:t>
            </a:r>
            <a:br>
              <a:rPr b="0" i="0" lang="en-US" sz="930" u="none" cap="none" strike="noStrike">
                <a:solidFill>
                  <a:srgbClr val="FFFFFF"/>
                </a:solidFill>
                <a:latin typeface="Consolas"/>
                <a:ea typeface="Consolas"/>
                <a:cs typeface="Consolas"/>
                <a:sym typeface="Consolas"/>
              </a:rPr>
            </a:br>
            <a:r>
              <a:rPr b="0" i="0" lang="en-US" sz="930" u="none" cap="none" strike="noStrike">
                <a:solidFill>
                  <a:srgbClr val="8292A2"/>
                </a:solidFill>
                <a:latin typeface="Consolas"/>
                <a:ea typeface="Consolas"/>
                <a:cs typeface="Consolas"/>
                <a:sym typeface="Consolas"/>
              </a:rPr>
              <a:t>11 </a:t>
            </a:r>
            <a:r>
              <a:rPr b="0" i="0" lang="en-US" sz="930" u="none" cap="none" strike="noStrike">
                <a:solidFill>
                  <a:srgbClr val="FFFFFF"/>
                </a:solidFill>
                <a:latin typeface="Consolas"/>
                <a:ea typeface="Consolas"/>
                <a:cs typeface="Consolas"/>
                <a:sym typeface="Consolas"/>
              </a:rPr>
              <a:t>app</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register_blueprint</a:t>
            </a:r>
            <a:r>
              <a:rPr b="0" i="0" lang="en-US" sz="930" u="none" cap="none" strike="noStrike">
                <a:solidFill>
                  <a:srgbClr val="F8F8F2"/>
                </a:solidFill>
                <a:latin typeface="Consolas"/>
                <a:ea typeface="Consolas"/>
                <a:cs typeface="Consolas"/>
                <a:sym typeface="Consolas"/>
              </a:rPr>
              <a:t>(</a:t>
            </a:r>
            <a:r>
              <a:rPr b="0" i="0" lang="en-US" sz="930" u="none" cap="none" strike="noStrike">
                <a:solidFill>
                  <a:srgbClr val="FFFFFF"/>
                </a:solidFill>
                <a:latin typeface="Consolas"/>
                <a:ea typeface="Consolas"/>
                <a:cs typeface="Consolas"/>
                <a:sym typeface="Consolas"/>
              </a:rPr>
              <a:t>menu_bp</a:t>
            </a:r>
            <a:r>
              <a:rPr b="0" i="0" lang="en-US" sz="930" u="none" cap="none" strike="noStrike">
                <a:solidFill>
                  <a:srgbClr val="F8F8F2"/>
                </a:solidFill>
                <a:latin typeface="Consolas"/>
                <a:ea typeface="Consolas"/>
                <a:cs typeface="Consolas"/>
                <a:sym typeface="Consolas"/>
              </a:rPr>
              <a:t>)</a:t>
            </a:r>
            <a:endParaRPr b="0" i="0" sz="930" u="none" cap="none" strike="noStrike">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930"/>
              <a:buFont typeface="Consolas"/>
              <a:buNone/>
            </a:pPr>
            <a:r>
              <a:rPr lang="en-US" sz="930">
                <a:solidFill>
                  <a:srgbClr val="8292A2"/>
                </a:solidFill>
                <a:latin typeface="Consolas"/>
                <a:ea typeface="Consolas"/>
                <a:cs typeface="Consolas"/>
                <a:sym typeface="Consolas"/>
              </a:rPr>
              <a:t>12 </a:t>
            </a:r>
            <a:r>
              <a:rPr lang="en-US" sz="930">
                <a:solidFill>
                  <a:srgbClr val="F8F8F2"/>
                </a:solidFill>
                <a:latin typeface="Consolas"/>
                <a:ea typeface="Consolas"/>
                <a:cs typeface="Consolas"/>
                <a:sym typeface="Consolas"/>
              </a:rPr>
              <a:t>app.register_blueprint(bookings_bp)</a:t>
            </a:r>
            <a:r>
              <a:rPr lang="en-US" sz="930">
                <a:solidFill>
                  <a:srgbClr val="8292A2"/>
                </a:solidFill>
                <a:latin typeface="Consolas"/>
                <a:ea typeface="Consolas"/>
                <a:cs typeface="Consolas"/>
                <a:sym typeface="Consolas"/>
              </a:rPr>
              <a:t> </a:t>
            </a:r>
            <a:endParaRPr sz="930">
              <a:solidFill>
                <a:srgbClr val="F8F8F2"/>
              </a:solidFill>
              <a:latin typeface="Consolas"/>
              <a:ea typeface="Consolas"/>
              <a:cs typeface="Consolas"/>
              <a:sym typeface="Consolas"/>
            </a:endParaRPr>
          </a:p>
        </p:txBody>
      </p:sp>
      <p:sp>
        <p:nvSpPr>
          <p:cNvPr id="165" name="Google Shape;165;p12"/>
          <p:cNvSpPr/>
          <p:nvPr/>
        </p:nvSpPr>
        <p:spPr>
          <a:xfrm>
            <a:off x="6263640" y="1234440"/>
            <a:ext cx="5166360" cy="3886200"/>
          </a:xfrm>
          <a:prstGeom prst="roundRect">
            <a:avLst>
              <a:gd fmla="val 1882" name="adj"/>
            </a:avLst>
          </a:prstGeom>
          <a:solidFill>
            <a:srgbClr val="14222C"/>
          </a:solidFill>
          <a:ln cap="flat" cmpd="sng" w="12700">
            <a:solidFill>
              <a:srgbClr val="2E3B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2"/>
          <p:cNvSpPr/>
          <p:nvPr/>
        </p:nvSpPr>
        <p:spPr>
          <a:xfrm>
            <a:off x="6373368" y="1344168"/>
            <a:ext cx="4946904" cy="3666744"/>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8292A2"/>
              </a:buClr>
              <a:buSzPts val="980"/>
              <a:buFont typeface="Consolas"/>
              <a:buNone/>
            </a:pPr>
            <a:r>
              <a:rPr b="0" i="0" lang="en-US" sz="980" u="none" cap="none" strike="noStrike">
                <a:solidFill>
                  <a:srgbClr val="8292A2"/>
                </a:solidFill>
                <a:latin typeface="Consolas"/>
                <a:ea typeface="Consolas"/>
                <a:cs typeface="Consolas"/>
                <a:sym typeface="Consolas"/>
              </a:rPr>
              <a:t>1 </a:t>
            </a:r>
            <a:r>
              <a:rPr b="0" i="0" lang="en-US" sz="980" u="none" cap="none" strike="noStrike">
                <a:solidFill>
                  <a:srgbClr val="66D9EF"/>
                </a:solidFill>
                <a:latin typeface="Consolas"/>
                <a:ea typeface="Consolas"/>
                <a:cs typeface="Consolas"/>
                <a:sym typeface="Consolas"/>
              </a:rPr>
              <a:t>def</a:t>
            </a:r>
            <a:r>
              <a:rPr b="0" i="0" lang="en-US" sz="980" u="none" cap="none" strike="noStrike">
                <a:solidFill>
                  <a:srgbClr val="FFFFFF"/>
                </a:solidFill>
                <a:latin typeface="Consolas"/>
                <a:ea typeface="Consolas"/>
                <a:cs typeface="Consolas"/>
                <a:sym typeface="Consolas"/>
              </a:rPr>
              <a:t> get_connection</a:t>
            </a:r>
            <a:r>
              <a:rPr b="0" i="0" lang="en-US" sz="980" u="none" cap="none" strike="noStrike">
                <a:solidFill>
                  <a:srgbClr val="F8F8F2"/>
                </a:solidFill>
                <a:latin typeface="Consolas"/>
                <a:ea typeface="Consolas"/>
                <a:cs typeface="Consolas"/>
                <a:sym typeface="Consolas"/>
              </a:rPr>
              <a:t>():</a:t>
            </a:r>
            <a:br>
              <a:rPr b="0" i="0" lang="en-US" sz="980" u="none" cap="none" strike="noStrike">
                <a:solidFill>
                  <a:srgbClr val="FFFFFF"/>
                </a:solidFill>
                <a:latin typeface="Consolas"/>
                <a:ea typeface="Consolas"/>
                <a:cs typeface="Consolas"/>
                <a:sym typeface="Consolas"/>
              </a:rPr>
            </a:br>
            <a:r>
              <a:rPr b="0" i="0" lang="en-US" sz="980" u="none" cap="none" strike="noStrike">
                <a:solidFill>
                  <a:srgbClr val="8292A2"/>
                </a:solidFill>
                <a:latin typeface="Consolas"/>
                <a:ea typeface="Consolas"/>
                <a:cs typeface="Consolas"/>
                <a:sym typeface="Consolas"/>
              </a:rPr>
              <a:t>2 </a:t>
            </a:r>
            <a:r>
              <a:rPr b="0" i="0" lang="en-US" sz="980" u="none" cap="none" strike="noStrike">
                <a:solidFill>
                  <a:srgbClr val="FFFFFF"/>
                </a:solidFill>
                <a:latin typeface="Consolas"/>
                <a:ea typeface="Consolas"/>
                <a:cs typeface="Consolas"/>
                <a:sym typeface="Consolas"/>
              </a:rPr>
              <a:t>    </a:t>
            </a:r>
            <a:r>
              <a:rPr b="0" i="0" lang="en-US" sz="980" u="none" cap="none" strike="noStrike">
                <a:solidFill>
                  <a:srgbClr val="66D9EF"/>
                </a:solidFill>
                <a:latin typeface="Consolas"/>
                <a:ea typeface="Consolas"/>
                <a:cs typeface="Consolas"/>
                <a:sym typeface="Consolas"/>
              </a:rPr>
              <a:t>return</a:t>
            </a:r>
            <a:r>
              <a:rPr b="0" i="0" lang="en-US" sz="980" u="none" cap="none" strike="noStrike">
                <a:solidFill>
                  <a:srgbClr val="FFFFFF"/>
                </a:solidFill>
                <a:latin typeface="Consolas"/>
                <a:ea typeface="Consolas"/>
                <a:cs typeface="Consolas"/>
                <a:sym typeface="Consolas"/>
              </a:rPr>
              <a:t> mysql</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connector</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connect</a:t>
            </a:r>
            <a:r>
              <a:rPr b="0" i="0" lang="en-US" sz="980" u="none" cap="none" strike="noStrike">
                <a:solidFill>
                  <a:srgbClr val="F8F8F2"/>
                </a:solidFill>
                <a:latin typeface="Consolas"/>
                <a:ea typeface="Consolas"/>
                <a:cs typeface="Consolas"/>
                <a:sym typeface="Consolas"/>
              </a:rPr>
              <a:t>(</a:t>
            </a:r>
            <a:br>
              <a:rPr b="0" i="0" lang="en-US" sz="980" u="none" cap="none" strike="noStrike">
                <a:solidFill>
                  <a:srgbClr val="FFFFFF"/>
                </a:solidFill>
                <a:latin typeface="Consolas"/>
                <a:ea typeface="Consolas"/>
                <a:cs typeface="Consolas"/>
                <a:sym typeface="Consolas"/>
              </a:rPr>
            </a:br>
            <a:r>
              <a:rPr b="0" i="0" lang="en-US" sz="980" u="none" cap="none" strike="noStrike">
                <a:solidFill>
                  <a:srgbClr val="8292A2"/>
                </a:solidFill>
                <a:latin typeface="Consolas"/>
                <a:ea typeface="Consolas"/>
                <a:cs typeface="Consolas"/>
                <a:sym typeface="Consolas"/>
              </a:rPr>
              <a:t>3 </a:t>
            </a:r>
            <a:r>
              <a:rPr b="0" i="0" lang="en-US" sz="980" u="none" cap="none" strike="noStrike">
                <a:solidFill>
                  <a:srgbClr val="FFFFFF"/>
                </a:solidFill>
                <a:latin typeface="Consolas"/>
                <a:ea typeface="Consolas"/>
                <a:cs typeface="Consolas"/>
                <a:sym typeface="Consolas"/>
              </a:rPr>
              <a:t>        host</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os</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getenv</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"DB_HOST"</a:t>
            </a:r>
            <a:r>
              <a:rPr b="0" i="0" lang="en-US" sz="980" u="none" cap="none" strike="noStrike">
                <a:solidFill>
                  <a:srgbClr val="F8F8F2"/>
                </a:solidFill>
                <a:latin typeface="Consolas"/>
                <a:ea typeface="Consolas"/>
                <a:cs typeface="Consolas"/>
                <a:sym typeface="Consolas"/>
              </a:rPr>
              <a:t>),</a:t>
            </a:r>
            <a:br>
              <a:rPr b="0" i="0" lang="en-US" sz="980" u="none" cap="none" strike="noStrike">
                <a:solidFill>
                  <a:srgbClr val="FFFFFF"/>
                </a:solidFill>
                <a:latin typeface="Consolas"/>
                <a:ea typeface="Consolas"/>
                <a:cs typeface="Consolas"/>
                <a:sym typeface="Consolas"/>
              </a:rPr>
            </a:br>
            <a:r>
              <a:rPr b="0" i="0" lang="en-US" sz="980" u="none" cap="none" strike="noStrike">
                <a:solidFill>
                  <a:srgbClr val="8292A2"/>
                </a:solidFill>
                <a:latin typeface="Consolas"/>
                <a:ea typeface="Consolas"/>
                <a:cs typeface="Consolas"/>
                <a:sym typeface="Consolas"/>
              </a:rPr>
              <a:t>4 </a:t>
            </a:r>
            <a:r>
              <a:rPr b="0" i="0" lang="en-US" sz="980" u="none" cap="none" strike="noStrike">
                <a:solidFill>
                  <a:srgbClr val="FFFFFF"/>
                </a:solidFill>
                <a:latin typeface="Consolas"/>
                <a:ea typeface="Consolas"/>
                <a:cs typeface="Consolas"/>
                <a:sym typeface="Consolas"/>
              </a:rPr>
              <a:t>        user</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os</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getenv</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"DB_USER"</a:t>
            </a:r>
            <a:r>
              <a:rPr b="0" i="0" lang="en-US" sz="980" u="none" cap="none" strike="noStrike">
                <a:solidFill>
                  <a:srgbClr val="F8F8F2"/>
                </a:solidFill>
                <a:latin typeface="Consolas"/>
                <a:ea typeface="Consolas"/>
                <a:cs typeface="Consolas"/>
                <a:sym typeface="Consolas"/>
              </a:rPr>
              <a:t>),</a:t>
            </a:r>
            <a:br>
              <a:rPr b="0" i="0" lang="en-US" sz="980" u="none" cap="none" strike="noStrike">
                <a:solidFill>
                  <a:srgbClr val="FFFFFF"/>
                </a:solidFill>
                <a:latin typeface="Consolas"/>
                <a:ea typeface="Consolas"/>
                <a:cs typeface="Consolas"/>
                <a:sym typeface="Consolas"/>
              </a:rPr>
            </a:br>
            <a:r>
              <a:rPr b="0" i="0" lang="en-US" sz="980" u="none" cap="none" strike="noStrike">
                <a:solidFill>
                  <a:srgbClr val="8292A2"/>
                </a:solidFill>
                <a:latin typeface="Consolas"/>
                <a:ea typeface="Consolas"/>
                <a:cs typeface="Consolas"/>
                <a:sym typeface="Consolas"/>
              </a:rPr>
              <a:t>5 </a:t>
            </a:r>
            <a:r>
              <a:rPr b="0" i="0" lang="en-US" sz="980" u="none" cap="none" strike="noStrike">
                <a:solidFill>
                  <a:srgbClr val="FFFFFF"/>
                </a:solidFill>
                <a:latin typeface="Consolas"/>
                <a:ea typeface="Consolas"/>
                <a:cs typeface="Consolas"/>
                <a:sym typeface="Consolas"/>
              </a:rPr>
              <a:t>        password</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os</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getenv</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"DB_PASSWORD"</a:t>
            </a:r>
            <a:r>
              <a:rPr b="0" i="0" lang="en-US" sz="980" u="none" cap="none" strike="noStrike">
                <a:solidFill>
                  <a:srgbClr val="F8F8F2"/>
                </a:solidFill>
                <a:latin typeface="Consolas"/>
                <a:ea typeface="Consolas"/>
                <a:cs typeface="Consolas"/>
                <a:sym typeface="Consolas"/>
              </a:rPr>
              <a:t>),</a:t>
            </a:r>
            <a:br>
              <a:rPr b="0" i="0" lang="en-US" sz="980" u="none" cap="none" strike="noStrike">
                <a:solidFill>
                  <a:srgbClr val="FFFFFF"/>
                </a:solidFill>
                <a:latin typeface="Consolas"/>
                <a:ea typeface="Consolas"/>
                <a:cs typeface="Consolas"/>
                <a:sym typeface="Consolas"/>
              </a:rPr>
            </a:br>
            <a:r>
              <a:rPr b="0" i="0" lang="en-US" sz="980" u="none" cap="none" strike="noStrike">
                <a:solidFill>
                  <a:srgbClr val="8292A2"/>
                </a:solidFill>
                <a:latin typeface="Consolas"/>
                <a:ea typeface="Consolas"/>
                <a:cs typeface="Consolas"/>
                <a:sym typeface="Consolas"/>
              </a:rPr>
              <a:t>6 </a:t>
            </a:r>
            <a:r>
              <a:rPr b="0" i="0" lang="en-US" sz="980" u="none" cap="none" strike="noStrike">
                <a:solidFill>
                  <a:srgbClr val="FFFFFF"/>
                </a:solidFill>
                <a:latin typeface="Consolas"/>
                <a:ea typeface="Consolas"/>
                <a:cs typeface="Consolas"/>
                <a:sym typeface="Consolas"/>
              </a:rPr>
              <a:t>        database</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os</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getenv</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"DB_NAME"</a:t>
            </a:r>
            <a:r>
              <a:rPr b="0" i="0" lang="en-US" sz="980" u="none" cap="none" strike="noStrike">
                <a:solidFill>
                  <a:srgbClr val="F8F8F2"/>
                </a:solidFill>
                <a:latin typeface="Consolas"/>
                <a:ea typeface="Consolas"/>
                <a:cs typeface="Consolas"/>
                <a:sym typeface="Consolas"/>
              </a:rPr>
              <a:t>),</a:t>
            </a:r>
            <a:br>
              <a:rPr b="0" i="0" lang="en-US" sz="980" u="none" cap="none" strike="noStrike">
                <a:solidFill>
                  <a:srgbClr val="FFFFFF"/>
                </a:solidFill>
                <a:latin typeface="Consolas"/>
                <a:ea typeface="Consolas"/>
                <a:cs typeface="Consolas"/>
                <a:sym typeface="Consolas"/>
              </a:rPr>
            </a:br>
            <a:r>
              <a:rPr b="0" i="0" lang="en-US" sz="980" u="none" cap="none" strike="noStrike">
                <a:solidFill>
                  <a:srgbClr val="8292A2"/>
                </a:solidFill>
                <a:latin typeface="Consolas"/>
                <a:ea typeface="Consolas"/>
                <a:cs typeface="Consolas"/>
                <a:sym typeface="Consolas"/>
              </a:rPr>
              <a:t>7 </a:t>
            </a:r>
            <a:r>
              <a:rPr b="0" i="0" lang="en-US" sz="980" u="none" cap="none" strike="noStrike">
                <a:solidFill>
                  <a:srgbClr val="FFFFFF"/>
                </a:solidFill>
                <a:latin typeface="Consolas"/>
                <a:ea typeface="Consolas"/>
                <a:cs typeface="Consolas"/>
                <a:sym typeface="Consolas"/>
              </a:rPr>
              <a:t>        port</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int</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os</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getenv</a:t>
            </a:r>
            <a:r>
              <a:rPr b="0" i="0" lang="en-US" sz="980" u="none" cap="none" strike="noStrike">
                <a:solidFill>
                  <a:srgbClr val="F8F8F2"/>
                </a:solidFill>
                <a:latin typeface="Consolas"/>
                <a:ea typeface="Consolas"/>
                <a:cs typeface="Consolas"/>
                <a:sym typeface="Consolas"/>
              </a:rPr>
              <a:t>(</a:t>
            </a:r>
            <a:r>
              <a:rPr b="0" i="0" lang="en-US" sz="980" u="none" cap="none" strike="noStrike">
                <a:solidFill>
                  <a:srgbClr val="FFFFFF"/>
                </a:solidFill>
                <a:latin typeface="Consolas"/>
                <a:ea typeface="Consolas"/>
                <a:cs typeface="Consolas"/>
                <a:sym typeface="Consolas"/>
              </a:rPr>
              <a:t>"DB_PORT"</a:t>
            </a:r>
            <a:r>
              <a:rPr b="0" i="0" lang="en-US" sz="980" u="none" cap="none" strike="noStrike">
                <a:solidFill>
                  <a:srgbClr val="F8F8F2"/>
                </a:solidFill>
                <a:latin typeface="Consolas"/>
                <a:ea typeface="Consolas"/>
                <a:cs typeface="Consolas"/>
                <a:sym typeface="Consolas"/>
              </a:rPr>
              <a:t>))</a:t>
            </a:r>
            <a:br>
              <a:rPr b="0" i="0" lang="en-US" sz="980" u="none" cap="none" strike="noStrike">
                <a:solidFill>
                  <a:srgbClr val="FFFFFF"/>
                </a:solidFill>
                <a:latin typeface="Consolas"/>
                <a:ea typeface="Consolas"/>
                <a:cs typeface="Consolas"/>
                <a:sym typeface="Consolas"/>
              </a:rPr>
            </a:br>
            <a:r>
              <a:rPr b="0" i="0" lang="en-US" sz="980" u="none" cap="none" strike="noStrike">
                <a:solidFill>
                  <a:srgbClr val="8292A2"/>
                </a:solidFill>
                <a:latin typeface="Consolas"/>
                <a:ea typeface="Consolas"/>
                <a:cs typeface="Consolas"/>
                <a:sym typeface="Consolas"/>
              </a:rPr>
              <a:t>8 </a:t>
            </a:r>
            <a:r>
              <a:rPr b="0" i="0" lang="en-US" sz="980" u="none" cap="none" strike="noStrike">
                <a:solidFill>
                  <a:srgbClr val="FFFFFF"/>
                </a:solidFill>
                <a:latin typeface="Consolas"/>
                <a:ea typeface="Consolas"/>
                <a:cs typeface="Consolas"/>
                <a:sym typeface="Consolas"/>
              </a:rPr>
              <a:t>    </a:t>
            </a:r>
            <a:r>
              <a:rPr b="0" i="0" lang="en-US" sz="980" u="none" cap="none" strike="noStrike">
                <a:solidFill>
                  <a:srgbClr val="F8F8F2"/>
                </a:solidFill>
                <a:latin typeface="Consolas"/>
                <a:ea typeface="Consolas"/>
                <a:cs typeface="Consolas"/>
                <a:sym typeface="Consolas"/>
              </a:rPr>
              <a:t>)</a:t>
            </a:r>
            <a:endParaRPr b="0" i="0" sz="980" u="none" cap="none" strike="noStrike">
              <a:solidFill>
                <a:schemeClr val="dk1"/>
              </a:solidFill>
              <a:latin typeface="Arial"/>
              <a:ea typeface="Arial"/>
              <a:cs typeface="Arial"/>
              <a:sym typeface="Arial"/>
            </a:endParaRPr>
          </a:p>
        </p:txBody>
      </p:sp>
      <p:sp>
        <p:nvSpPr>
          <p:cNvPr id="167" name="Google Shape;167;p12"/>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3"/>
          <p:cNvSpPr/>
          <p:nvPr/>
        </p:nvSpPr>
        <p:spPr>
          <a:xfrm>
            <a:off x="548640" y="338277"/>
            <a:ext cx="7863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Code snippets: authentication</a:t>
            </a:r>
            <a:r>
              <a:rPr b="1" lang="en-US" sz="2600">
                <a:solidFill>
                  <a:srgbClr val="1C1B1A"/>
                </a:solidFill>
                <a:latin typeface="Play"/>
                <a:ea typeface="Play"/>
                <a:cs typeface="Play"/>
                <a:sym typeface="Play"/>
              </a:rPr>
              <a:t> &amp; security</a:t>
            </a:r>
            <a:endParaRPr b="0" i="0" sz="2600" u="none" cap="none" strike="noStrike">
              <a:solidFill>
                <a:schemeClr val="dk1"/>
              </a:solidFill>
              <a:latin typeface="Arial"/>
              <a:ea typeface="Arial"/>
              <a:cs typeface="Arial"/>
              <a:sym typeface="Arial"/>
            </a:endParaRPr>
          </a:p>
        </p:txBody>
      </p:sp>
      <p:sp>
        <p:nvSpPr>
          <p:cNvPr id="174" name="Google Shape;174;p13"/>
          <p:cNvSpPr/>
          <p:nvPr/>
        </p:nvSpPr>
        <p:spPr>
          <a:xfrm>
            <a:off x="566928" y="786384"/>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050"/>
              <a:buFont typeface="Arial"/>
              <a:buNone/>
            </a:pPr>
            <a:r>
              <a:rPr b="0" i="0" lang="en-US" sz="1050" u="none" cap="none" strike="noStrike">
                <a:solidFill>
                  <a:srgbClr val="655E55"/>
                </a:solidFill>
                <a:latin typeface="Arial"/>
                <a:ea typeface="Arial"/>
                <a:cs typeface="Arial"/>
                <a:sym typeface="Arial"/>
              </a:rPr>
              <a:t>Registration stores hashed passwords and rolls back when a database error occurs</a:t>
            </a:r>
            <a:endParaRPr b="0" i="0" sz="1050" u="none" cap="none" strike="noStrike">
              <a:solidFill>
                <a:schemeClr val="dk1"/>
              </a:solidFill>
              <a:latin typeface="Arial"/>
              <a:ea typeface="Arial"/>
              <a:cs typeface="Arial"/>
              <a:sym typeface="Arial"/>
            </a:endParaRPr>
          </a:p>
        </p:txBody>
      </p:sp>
      <p:sp>
        <p:nvSpPr>
          <p:cNvPr id="175" name="Google Shape;175;p13"/>
          <p:cNvSpPr/>
          <p:nvPr/>
        </p:nvSpPr>
        <p:spPr>
          <a:xfrm>
            <a:off x="6995160" y="12344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176" name="Google Shape;176;p13"/>
          <p:cNvSpPr/>
          <p:nvPr/>
        </p:nvSpPr>
        <p:spPr>
          <a:xfrm>
            <a:off x="330200" y="3385025"/>
            <a:ext cx="5394900" cy="2194500"/>
          </a:xfrm>
          <a:prstGeom prst="rect">
            <a:avLst/>
          </a:prstGeom>
          <a:noFill/>
          <a:ln>
            <a:noFill/>
          </a:ln>
        </p:spPr>
        <p:txBody>
          <a:bodyPr anchorCtr="0" anchor="t" bIns="625" lIns="625" spcFirstLastPara="1" rIns="625" wrap="square" tIns="625">
            <a:noAutofit/>
          </a:bodyPr>
          <a:lstStyle/>
          <a:p>
            <a:pPr indent="-323850" lvl="0" marL="457200" rtl="0" algn="l">
              <a:spcBef>
                <a:spcPts val="0"/>
              </a:spcBef>
              <a:spcAft>
                <a:spcPts val="0"/>
              </a:spcAft>
              <a:buClr>
                <a:srgbClr val="1C1B1A"/>
              </a:buClr>
              <a:buSzPts val="1500"/>
              <a:buChar char="•"/>
            </a:pPr>
            <a:r>
              <a:rPr lang="en-US" sz="1500">
                <a:solidFill>
                  <a:srgbClr val="1C1B1A"/>
                </a:solidFill>
              </a:rPr>
              <a:t>Passwords must match before registration continues</a:t>
            </a:r>
            <a:endParaRPr sz="1500">
              <a:solidFill>
                <a:srgbClr val="1C1B1A"/>
              </a:solidFill>
            </a:endParaRPr>
          </a:p>
          <a:p>
            <a:pPr indent="-323850" lvl="0" marL="457200" rtl="0" algn="l">
              <a:spcBef>
                <a:spcPts val="0"/>
              </a:spcBef>
              <a:spcAft>
                <a:spcPts val="0"/>
              </a:spcAft>
              <a:buClr>
                <a:srgbClr val="1C1B1A"/>
              </a:buClr>
              <a:buSzPts val="1500"/>
              <a:buChar char="•"/>
            </a:pPr>
            <a:r>
              <a:rPr lang="en-US" sz="1500">
                <a:solidFill>
                  <a:srgbClr val="1C1B1A"/>
                </a:solidFill>
              </a:rPr>
              <a:t>Password rules check length, uppercase, lowercase, number and special character</a:t>
            </a:r>
            <a:endParaRPr sz="1500">
              <a:solidFill>
                <a:srgbClr val="1C1B1A"/>
              </a:solidFill>
            </a:endParaRPr>
          </a:p>
          <a:p>
            <a:pPr indent="-323850" lvl="0" marL="457200" rtl="0" algn="l">
              <a:spcBef>
                <a:spcPts val="0"/>
              </a:spcBef>
              <a:spcAft>
                <a:spcPts val="0"/>
              </a:spcAft>
              <a:buClr>
                <a:srgbClr val="1C1B1A"/>
              </a:buClr>
              <a:buSzPts val="1500"/>
              <a:buChar char="•"/>
            </a:pPr>
            <a:r>
              <a:rPr lang="en-US" sz="1500">
                <a:solidFill>
                  <a:srgbClr val="1C1B1A"/>
                </a:solidFill>
              </a:rPr>
              <a:t>Only the hashed password is stored, not the plain password</a:t>
            </a:r>
            <a:endParaRPr sz="1500">
              <a:solidFill>
                <a:srgbClr val="1C1B1A"/>
              </a:solidFill>
            </a:endParaRPr>
          </a:p>
          <a:p>
            <a:pPr indent="-323850" lvl="0" marL="457200" rtl="0" algn="l">
              <a:spcBef>
                <a:spcPts val="0"/>
              </a:spcBef>
              <a:spcAft>
                <a:spcPts val="0"/>
              </a:spcAft>
              <a:buClr>
                <a:srgbClr val="1C1B1A"/>
              </a:buClr>
              <a:buSzPts val="1500"/>
              <a:buChar char="•"/>
            </a:pPr>
            <a:r>
              <a:rPr lang="en-US" sz="1500">
                <a:solidFill>
                  <a:srgbClr val="1C1B1A"/>
                </a:solidFill>
              </a:rPr>
              <a:t>A unique random salt is automatically added to each password</a:t>
            </a:r>
            <a:endParaRPr sz="1500">
              <a:solidFill>
                <a:srgbClr val="1C1B1A"/>
              </a:solidFill>
            </a:endParaRPr>
          </a:p>
          <a:p>
            <a:pPr indent="-323850" lvl="0" marL="457200" rtl="0" algn="l">
              <a:spcBef>
                <a:spcPts val="0"/>
              </a:spcBef>
              <a:spcAft>
                <a:spcPts val="0"/>
              </a:spcAft>
              <a:buClr>
                <a:srgbClr val="1C1B1A"/>
              </a:buClr>
              <a:buSzPts val="1500"/>
              <a:buChar char="•"/>
            </a:pPr>
            <a:r>
              <a:rPr lang="en-US" sz="1500">
                <a:solidFill>
                  <a:srgbClr val="1C1B1A"/>
                </a:solidFill>
              </a:rPr>
              <a:t>Rollback stops incomplete user records being saved</a:t>
            </a:r>
            <a:endParaRPr sz="1500">
              <a:solidFill>
                <a:srgbClr val="1C1B1A"/>
              </a:solidFill>
            </a:endParaRPr>
          </a:p>
          <a:p>
            <a:pPr indent="-323850" lvl="0" marL="457200" rtl="0" algn="l">
              <a:spcBef>
                <a:spcPts val="0"/>
              </a:spcBef>
              <a:spcAft>
                <a:spcPts val="0"/>
              </a:spcAft>
              <a:buClr>
                <a:srgbClr val="1C1B1A"/>
              </a:buClr>
              <a:buSzPts val="1500"/>
              <a:buChar char="•"/>
            </a:pPr>
            <a:r>
              <a:rPr lang="en-US" sz="1500">
                <a:solidFill>
                  <a:srgbClr val="1C1B1A"/>
                </a:solidFill>
              </a:rPr>
              <a:t>Parameterised SQL helps protect against SQL injection</a:t>
            </a:r>
            <a:endParaRPr sz="1500">
              <a:solidFill>
                <a:srgbClr val="1C1B1A"/>
              </a:solidFill>
            </a:endParaRPr>
          </a:p>
          <a:p>
            <a:pPr indent="0" lvl="0" marL="457200" marR="0" rtl="0" algn="l">
              <a:spcBef>
                <a:spcPts val="0"/>
              </a:spcBef>
              <a:spcAft>
                <a:spcPts val="0"/>
              </a:spcAft>
              <a:buNone/>
            </a:pPr>
            <a:r>
              <a:t/>
            </a:r>
            <a:endParaRPr sz="1500">
              <a:solidFill>
                <a:srgbClr val="1C1B1A"/>
              </a:solidFill>
            </a:endParaRPr>
          </a:p>
        </p:txBody>
      </p:sp>
      <p:sp>
        <p:nvSpPr>
          <p:cNvPr id="177" name="Google Shape;177;p13"/>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pic>
        <p:nvPicPr>
          <p:cNvPr id="178" name="Google Shape;178;p13"/>
          <p:cNvPicPr preferRelativeResize="0"/>
          <p:nvPr/>
        </p:nvPicPr>
        <p:blipFill>
          <a:blip r:embed="rId3">
            <a:alphaModFix/>
          </a:blip>
          <a:stretch>
            <a:fillRect/>
          </a:stretch>
        </p:blipFill>
        <p:spPr>
          <a:xfrm>
            <a:off x="330175" y="1509725"/>
            <a:ext cx="5394949" cy="944300"/>
          </a:xfrm>
          <a:prstGeom prst="rect">
            <a:avLst/>
          </a:prstGeom>
          <a:noFill/>
          <a:ln>
            <a:noFill/>
          </a:ln>
        </p:spPr>
      </p:pic>
      <p:pic>
        <p:nvPicPr>
          <p:cNvPr id="179" name="Google Shape;179;p13"/>
          <p:cNvPicPr preferRelativeResize="0"/>
          <p:nvPr/>
        </p:nvPicPr>
        <p:blipFill>
          <a:blip r:embed="rId4">
            <a:alphaModFix/>
          </a:blip>
          <a:stretch>
            <a:fillRect/>
          </a:stretch>
        </p:blipFill>
        <p:spPr>
          <a:xfrm>
            <a:off x="6204422" y="1382402"/>
            <a:ext cx="4971599" cy="1133650"/>
          </a:xfrm>
          <a:prstGeom prst="rect">
            <a:avLst/>
          </a:prstGeom>
          <a:noFill/>
          <a:ln>
            <a:noFill/>
          </a:ln>
        </p:spPr>
      </p:pic>
      <p:pic>
        <p:nvPicPr>
          <p:cNvPr id="180" name="Google Shape;180;p13"/>
          <p:cNvPicPr preferRelativeResize="0"/>
          <p:nvPr/>
        </p:nvPicPr>
        <p:blipFill>
          <a:blip r:embed="rId5">
            <a:alphaModFix/>
          </a:blip>
          <a:stretch>
            <a:fillRect/>
          </a:stretch>
        </p:blipFill>
        <p:spPr>
          <a:xfrm>
            <a:off x="5874367" y="3437177"/>
            <a:ext cx="6057900" cy="1447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p:nvPr/>
        </p:nvSpPr>
        <p:spPr>
          <a:xfrm>
            <a:off x="548640" y="338277"/>
            <a:ext cx="7863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Code snippets: </a:t>
            </a:r>
            <a:r>
              <a:rPr b="1" lang="en-US" sz="2600">
                <a:solidFill>
                  <a:srgbClr val="1C1B1A"/>
                </a:solidFill>
                <a:latin typeface="Play"/>
                <a:ea typeface="Play"/>
                <a:cs typeface="Play"/>
                <a:sym typeface="Play"/>
              </a:rPr>
              <a:t>JWT login and protected pages</a:t>
            </a:r>
            <a:endParaRPr b="0" i="0" sz="2600" u="none" cap="none" strike="noStrike">
              <a:solidFill>
                <a:schemeClr val="dk1"/>
              </a:solidFill>
              <a:latin typeface="Arial"/>
              <a:ea typeface="Arial"/>
              <a:cs typeface="Arial"/>
              <a:sym typeface="Arial"/>
            </a:endParaRPr>
          </a:p>
        </p:txBody>
      </p:sp>
      <p:sp>
        <p:nvSpPr>
          <p:cNvPr id="187" name="Google Shape;187;p14"/>
          <p:cNvSpPr/>
          <p:nvPr/>
        </p:nvSpPr>
        <p:spPr>
          <a:xfrm>
            <a:off x="548653" y="826859"/>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050"/>
              <a:buFont typeface="Arial"/>
              <a:buNone/>
            </a:pPr>
            <a:r>
              <a:t/>
            </a:r>
            <a:endParaRPr b="0" i="0" sz="1050" u="none" cap="none" strike="noStrike">
              <a:solidFill>
                <a:schemeClr val="dk1"/>
              </a:solidFill>
              <a:latin typeface="Arial"/>
              <a:ea typeface="Arial"/>
              <a:cs typeface="Arial"/>
              <a:sym typeface="Arial"/>
            </a:endParaRPr>
          </a:p>
        </p:txBody>
      </p:sp>
      <p:sp>
        <p:nvSpPr>
          <p:cNvPr id="188" name="Google Shape;188;p14"/>
          <p:cNvSpPr/>
          <p:nvPr/>
        </p:nvSpPr>
        <p:spPr>
          <a:xfrm>
            <a:off x="6995160" y="1234440"/>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189" name="Google Shape;189;p14"/>
          <p:cNvSpPr/>
          <p:nvPr/>
        </p:nvSpPr>
        <p:spPr>
          <a:xfrm>
            <a:off x="6088950" y="1627384"/>
            <a:ext cx="4837500" cy="3792000"/>
          </a:xfrm>
          <a:prstGeom prst="rect">
            <a:avLst/>
          </a:prstGeom>
          <a:noFill/>
          <a:ln>
            <a:noFill/>
          </a:ln>
        </p:spPr>
        <p:txBody>
          <a:bodyPr anchorCtr="0" anchor="t" bIns="625" lIns="625" spcFirstLastPara="1" rIns="625" wrap="square" tIns="625">
            <a:noAutofit/>
          </a:bodyPr>
          <a:lstStyle/>
          <a:p>
            <a:pPr indent="-311150" lvl="0" marL="914400" rtl="0" algn="l">
              <a:spcBef>
                <a:spcPts val="0"/>
              </a:spcBef>
              <a:spcAft>
                <a:spcPts val="0"/>
              </a:spcAft>
              <a:buClr>
                <a:schemeClr val="dk1"/>
              </a:buClr>
              <a:buSzPts val="1300"/>
              <a:buChar char="●"/>
            </a:pPr>
            <a:r>
              <a:rPr lang="en-US" sz="1300">
                <a:solidFill>
                  <a:schemeClr val="dk1"/>
                </a:solidFill>
              </a:rPr>
              <a:t>JWT is created after successful login</a:t>
            </a:r>
            <a:endParaRPr sz="1300">
              <a:solidFill>
                <a:schemeClr val="dk1"/>
              </a:solidFill>
            </a:endParaRPr>
          </a:p>
          <a:p>
            <a:pPr indent="0" lvl="0" marL="914400" rtl="0" algn="l">
              <a:spcBef>
                <a:spcPts val="0"/>
              </a:spcBef>
              <a:spcAft>
                <a:spcPts val="0"/>
              </a:spcAft>
              <a:buNone/>
            </a:pPr>
            <a:r>
              <a:t/>
            </a:r>
            <a:endParaRPr sz="1300">
              <a:solidFill>
                <a:schemeClr val="dk1"/>
              </a:solidFill>
            </a:endParaRPr>
          </a:p>
          <a:p>
            <a:pPr indent="-311150" lvl="0" marL="914400" rtl="0" algn="l">
              <a:spcBef>
                <a:spcPts val="0"/>
              </a:spcBef>
              <a:spcAft>
                <a:spcPts val="0"/>
              </a:spcAft>
              <a:buClr>
                <a:schemeClr val="dk1"/>
              </a:buClr>
              <a:buSzPts val="1300"/>
              <a:buChar char="●"/>
            </a:pPr>
            <a:r>
              <a:rPr lang="en-US" sz="1300">
                <a:solidFill>
                  <a:schemeClr val="dk1"/>
                </a:solidFill>
              </a:rPr>
              <a:t>Token stores user ID and role information</a:t>
            </a:r>
            <a:endParaRPr sz="1300">
              <a:solidFill>
                <a:schemeClr val="dk1"/>
              </a:solidFill>
            </a:endParaRPr>
          </a:p>
          <a:p>
            <a:pPr indent="0" lvl="0" marL="914400" rtl="0" algn="l">
              <a:spcBef>
                <a:spcPts val="0"/>
              </a:spcBef>
              <a:spcAft>
                <a:spcPts val="0"/>
              </a:spcAft>
              <a:buNone/>
            </a:pPr>
            <a:r>
              <a:t/>
            </a:r>
            <a:endParaRPr sz="1300">
              <a:solidFill>
                <a:schemeClr val="dk1"/>
              </a:solidFill>
            </a:endParaRPr>
          </a:p>
          <a:p>
            <a:pPr indent="-311150" lvl="0" marL="914400" rtl="0" algn="l">
              <a:spcBef>
                <a:spcPts val="0"/>
              </a:spcBef>
              <a:spcAft>
                <a:spcPts val="0"/>
              </a:spcAft>
              <a:buClr>
                <a:schemeClr val="dk1"/>
              </a:buClr>
              <a:buSzPts val="1300"/>
              <a:buChar char="●"/>
            </a:pPr>
            <a:r>
              <a:rPr lang="en-US" sz="1300">
                <a:solidFill>
                  <a:schemeClr val="dk1"/>
                </a:solidFill>
              </a:rPr>
              <a:t>JWT cookie keeps the user logged in securely</a:t>
            </a:r>
            <a:endParaRPr sz="1300">
              <a:solidFill>
                <a:schemeClr val="dk1"/>
              </a:solidFill>
            </a:endParaRPr>
          </a:p>
          <a:p>
            <a:pPr indent="0" lvl="0" marL="914400" rtl="0" algn="l">
              <a:spcBef>
                <a:spcPts val="0"/>
              </a:spcBef>
              <a:spcAft>
                <a:spcPts val="0"/>
              </a:spcAft>
              <a:buNone/>
            </a:pPr>
            <a:r>
              <a:t/>
            </a:r>
            <a:endParaRPr sz="1300">
              <a:solidFill>
                <a:schemeClr val="dk1"/>
              </a:solidFill>
            </a:endParaRPr>
          </a:p>
          <a:p>
            <a:pPr indent="-311150" lvl="0" marL="914400" rtl="0" algn="l">
              <a:spcBef>
                <a:spcPts val="0"/>
              </a:spcBef>
              <a:spcAft>
                <a:spcPts val="0"/>
              </a:spcAft>
              <a:buClr>
                <a:schemeClr val="dk1"/>
              </a:buClr>
              <a:buSzPts val="1300"/>
              <a:buChar char="●"/>
            </a:pPr>
            <a:r>
              <a:rPr lang="en-US" sz="1300">
                <a:solidFill>
                  <a:schemeClr val="dk1"/>
                </a:solidFill>
              </a:rPr>
              <a:t>@jwt_required() protects private routes</a:t>
            </a:r>
            <a:endParaRPr sz="1300">
              <a:solidFill>
                <a:schemeClr val="dk1"/>
              </a:solidFill>
            </a:endParaRPr>
          </a:p>
          <a:p>
            <a:pPr indent="0" lvl="0" marL="914400" rtl="0" algn="l">
              <a:spcBef>
                <a:spcPts val="0"/>
              </a:spcBef>
              <a:spcAft>
                <a:spcPts val="0"/>
              </a:spcAft>
              <a:buNone/>
            </a:pPr>
            <a:r>
              <a:t/>
            </a:r>
            <a:endParaRPr sz="1300">
              <a:solidFill>
                <a:schemeClr val="dk1"/>
              </a:solidFill>
            </a:endParaRPr>
          </a:p>
          <a:p>
            <a:pPr indent="-311150" lvl="0" marL="914400" rtl="0" algn="l">
              <a:spcBef>
                <a:spcPts val="0"/>
              </a:spcBef>
              <a:spcAft>
                <a:spcPts val="0"/>
              </a:spcAft>
              <a:buClr>
                <a:schemeClr val="dk1"/>
              </a:buClr>
              <a:buSzPts val="1300"/>
              <a:buChar char="●"/>
            </a:pPr>
            <a:r>
              <a:rPr lang="en-US" sz="1300">
                <a:solidFill>
                  <a:schemeClr val="dk1"/>
                </a:solidFill>
              </a:rPr>
              <a:t>Role ID helps control customer/admin access</a:t>
            </a:r>
            <a:endParaRPr sz="1300">
              <a:solidFill>
                <a:schemeClr val="dk1"/>
              </a:solidFill>
            </a:endParaRPr>
          </a:p>
        </p:txBody>
      </p:sp>
      <p:sp>
        <p:nvSpPr>
          <p:cNvPr id="190" name="Google Shape;190;p14"/>
          <p:cNvSpPr txBox="1"/>
          <p:nvPr>
            <p:ph idx="4294967295" type="sldNum"/>
          </p:nvPr>
        </p:nvSpPr>
        <p:spPr>
          <a:xfrm>
            <a:off x="11475720" y="6492240"/>
            <a:ext cx="8001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pic>
        <p:nvPicPr>
          <p:cNvPr id="191" name="Google Shape;191;p14"/>
          <p:cNvPicPr preferRelativeResize="0"/>
          <p:nvPr/>
        </p:nvPicPr>
        <p:blipFill>
          <a:blip r:embed="rId3">
            <a:alphaModFix/>
          </a:blip>
          <a:stretch>
            <a:fillRect/>
          </a:stretch>
        </p:blipFill>
        <p:spPr>
          <a:xfrm>
            <a:off x="1180176" y="1627375"/>
            <a:ext cx="3474600" cy="1835644"/>
          </a:xfrm>
          <a:prstGeom prst="rect">
            <a:avLst/>
          </a:prstGeom>
          <a:noFill/>
          <a:ln>
            <a:noFill/>
          </a:ln>
        </p:spPr>
      </p:pic>
      <p:pic>
        <p:nvPicPr>
          <p:cNvPr id="192" name="Google Shape;192;p14"/>
          <p:cNvPicPr preferRelativeResize="0"/>
          <p:nvPr/>
        </p:nvPicPr>
        <p:blipFill>
          <a:blip r:embed="rId4">
            <a:alphaModFix/>
          </a:blip>
          <a:stretch>
            <a:fillRect/>
          </a:stretch>
        </p:blipFill>
        <p:spPr>
          <a:xfrm>
            <a:off x="418600" y="4249415"/>
            <a:ext cx="5276850" cy="838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5"/>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Code snippets: checkout and payment reliability</a:t>
            </a:r>
            <a:endParaRPr b="0" i="0" sz="2600" u="none" cap="none" strike="noStrike">
              <a:solidFill>
                <a:schemeClr val="dk1"/>
              </a:solidFill>
              <a:latin typeface="Arial"/>
              <a:ea typeface="Arial"/>
              <a:cs typeface="Arial"/>
              <a:sym typeface="Arial"/>
            </a:endParaRPr>
          </a:p>
        </p:txBody>
      </p:sp>
      <p:sp>
        <p:nvSpPr>
          <p:cNvPr id="199" name="Google Shape;199;p15"/>
          <p:cNvSpPr/>
          <p:nvPr/>
        </p:nvSpPr>
        <p:spPr>
          <a:xfrm>
            <a:off x="566928" y="786384"/>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050"/>
              <a:buFont typeface="Arial"/>
              <a:buNone/>
            </a:pPr>
            <a:r>
              <a:rPr b="0" i="0" lang="en-US" sz="1050" u="none" cap="none" strike="noStrike">
                <a:solidFill>
                  <a:srgbClr val="655E55"/>
                </a:solidFill>
                <a:latin typeface="Arial"/>
                <a:ea typeface="Arial"/>
                <a:cs typeface="Arial"/>
                <a:sym typeface="Arial"/>
              </a:rPr>
              <a:t>The highest-risk flow creates a Stripe PaymentIntent, confirms success, then writes order and payment records</a:t>
            </a:r>
            <a:endParaRPr b="0" i="0" sz="1050" u="none" cap="none" strike="noStrike">
              <a:solidFill>
                <a:schemeClr val="dk1"/>
              </a:solidFill>
              <a:latin typeface="Arial"/>
              <a:ea typeface="Arial"/>
              <a:cs typeface="Arial"/>
              <a:sym typeface="Arial"/>
            </a:endParaRPr>
          </a:p>
        </p:txBody>
      </p:sp>
      <p:sp>
        <p:nvSpPr>
          <p:cNvPr id="200" name="Google Shape;200;p15"/>
          <p:cNvSpPr/>
          <p:nvPr/>
        </p:nvSpPr>
        <p:spPr>
          <a:xfrm>
            <a:off x="777240" y="1143000"/>
            <a:ext cx="5852160" cy="4754880"/>
          </a:xfrm>
          <a:prstGeom prst="roundRect">
            <a:avLst>
              <a:gd fmla="val 1538" name="adj"/>
            </a:avLst>
          </a:prstGeom>
          <a:solidFill>
            <a:srgbClr val="14222C"/>
          </a:solidFill>
          <a:ln cap="flat" cmpd="sng" w="12700">
            <a:solidFill>
              <a:srgbClr val="2E3B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886968" y="1252728"/>
            <a:ext cx="5632704" cy="4535424"/>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8292A2"/>
              </a:buClr>
              <a:buSzPts val="880"/>
              <a:buFont typeface="Consolas"/>
              <a:buNone/>
            </a:pPr>
            <a:r>
              <a:rPr b="0" i="0" lang="en-US" sz="880" u="none" cap="none" strike="noStrike">
                <a:solidFill>
                  <a:srgbClr val="8292A2"/>
                </a:solidFill>
                <a:latin typeface="Consolas"/>
                <a:ea typeface="Consolas"/>
                <a:cs typeface="Consolas"/>
                <a:sym typeface="Consolas"/>
              </a:rPr>
              <a:t> 1 </a:t>
            </a:r>
            <a:r>
              <a:rPr b="0" i="0" lang="en-US" sz="880" u="none" cap="none" strike="noStrike">
                <a:solidFill>
                  <a:srgbClr val="FFFFFF"/>
                </a:solidFill>
                <a:latin typeface="Consolas"/>
                <a:ea typeface="Consolas"/>
                <a:cs typeface="Consolas"/>
                <a:sym typeface="Consolas"/>
              </a:rPr>
              <a:t>intent </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stripe</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PaymentIntent</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create</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 2 </a:t>
            </a:r>
            <a:r>
              <a:rPr b="0" i="0" lang="en-US" sz="880" u="none" cap="none" strike="noStrike">
                <a:solidFill>
                  <a:srgbClr val="FFFFFF"/>
                </a:solidFill>
                <a:latin typeface="Consolas"/>
                <a:ea typeface="Consolas"/>
                <a:cs typeface="Consolas"/>
                <a:sym typeface="Consolas"/>
              </a:rPr>
              <a:t>    amount</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amount_cents</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 3 </a:t>
            </a:r>
            <a:r>
              <a:rPr b="0" i="0" lang="en-US" sz="880" u="none" cap="none" strike="noStrike">
                <a:solidFill>
                  <a:srgbClr val="FFFFFF"/>
                </a:solidFill>
                <a:latin typeface="Consolas"/>
                <a:ea typeface="Consolas"/>
                <a:cs typeface="Consolas"/>
                <a:sym typeface="Consolas"/>
              </a:rPr>
              <a:t>    currency</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"gbp"</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 4 </a:t>
            </a:r>
            <a:r>
              <a:rPr b="0" i="0" lang="en-US" sz="880" u="none" cap="none" strike="noStrike">
                <a:solidFill>
                  <a:srgbClr val="FFFFFF"/>
                </a:solidFill>
                <a:latin typeface="Consolas"/>
                <a:ea typeface="Consolas"/>
                <a:cs typeface="Consolas"/>
                <a:sym typeface="Consolas"/>
              </a:rPr>
              <a:t>    metadata</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"integration_check"</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"accept_a_payment"</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 5 </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 6 </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 7 </a:t>
            </a:r>
            <a:r>
              <a:rPr b="0" i="0" lang="en-US" sz="880" u="none" cap="none" strike="noStrike">
                <a:solidFill>
                  <a:srgbClr val="FFFFFF"/>
                </a:solidFill>
                <a:latin typeface="Consolas"/>
                <a:ea typeface="Consolas"/>
                <a:cs typeface="Consolas"/>
                <a:sym typeface="Consolas"/>
              </a:rPr>
              <a:t>intent </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stripe</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PaymentIntent</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retrieve</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payment_intent_id</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 8 </a:t>
            </a:r>
            <a:r>
              <a:rPr b="0" i="0" lang="en-US" sz="880" u="none" cap="none" strike="noStrike">
                <a:solidFill>
                  <a:srgbClr val="66D9EF"/>
                </a:solidFill>
                <a:latin typeface="Consolas"/>
                <a:ea typeface="Consolas"/>
                <a:cs typeface="Consolas"/>
                <a:sym typeface="Consolas"/>
              </a:rPr>
              <a:t>if</a:t>
            </a:r>
            <a:r>
              <a:rPr b="0" i="0" lang="en-US" sz="880" u="none" cap="none" strike="noStrike">
                <a:solidFill>
                  <a:srgbClr val="FFFFFF"/>
                </a:solidFill>
                <a:latin typeface="Consolas"/>
                <a:ea typeface="Consolas"/>
                <a:cs typeface="Consolas"/>
                <a:sym typeface="Consolas"/>
              </a:rPr>
              <a:t> intent</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status </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"succeeded"</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 9 </a:t>
            </a:r>
            <a:r>
              <a:rPr b="0" i="0" lang="en-US" sz="880" u="none" cap="none" strike="noStrike">
                <a:solidFill>
                  <a:srgbClr val="FFFFFF"/>
                </a:solidFill>
                <a:latin typeface="Consolas"/>
                <a:ea typeface="Consolas"/>
                <a:cs typeface="Consolas"/>
                <a:sym typeface="Consolas"/>
              </a:rPr>
              <a:t>    </a:t>
            </a:r>
            <a:r>
              <a:rPr b="0" i="0" lang="en-US" sz="880" u="none" cap="none" strike="noStrike">
                <a:solidFill>
                  <a:srgbClr val="66D9EF"/>
                </a:solidFill>
                <a:latin typeface="Consolas"/>
                <a:ea typeface="Consolas"/>
                <a:cs typeface="Consolas"/>
                <a:sym typeface="Consolas"/>
              </a:rPr>
              <a:t>return</a:t>
            </a:r>
            <a:r>
              <a:rPr b="0" i="0" lang="en-US" sz="880" u="none" cap="none" strike="noStrike">
                <a:solidFill>
                  <a:srgbClr val="FFFFFF"/>
                </a:solidFill>
                <a:latin typeface="Consolas"/>
                <a:ea typeface="Consolas"/>
                <a:cs typeface="Consolas"/>
                <a:sym typeface="Consolas"/>
              </a:rPr>
              <a:t> jsonify</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"error"</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"payment not successful"</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400</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10 </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11 # record order and payment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12 </a:t>
            </a:r>
            <a:r>
              <a:rPr b="0" i="0" lang="en-US" sz="880" u="none" cap="none" strike="noStrike">
                <a:solidFill>
                  <a:srgbClr val="FFFFFF"/>
                </a:solidFill>
                <a:latin typeface="Consolas"/>
                <a:ea typeface="Consolas"/>
                <a:cs typeface="Consolas"/>
                <a:sym typeface="Consolas"/>
              </a:rPr>
              <a:t>cursor</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execute</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order_insert_query</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13 </a:t>
            </a:r>
            <a:r>
              <a:rPr b="0" i="0" lang="en-US" sz="880" u="none" cap="none" strike="noStrike">
                <a:solidFill>
                  <a:srgbClr val="FFFFFF"/>
                </a:solidFill>
                <a:latin typeface="Consolas"/>
                <a:ea typeface="Consolas"/>
                <a:cs typeface="Consolas"/>
                <a:sym typeface="Consolas"/>
              </a:rPr>
              <a:t>order_id </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cursor</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lastrowid</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14 </a:t>
            </a:r>
            <a:r>
              <a:rPr b="0" i="0" lang="en-US" sz="880" u="none" cap="none" strike="noStrike">
                <a:solidFill>
                  <a:srgbClr val="FFFFFF"/>
                </a:solidFill>
                <a:latin typeface="Consolas"/>
                <a:ea typeface="Consolas"/>
                <a:cs typeface="Consolas"/>
                <a:sym typeface="Consolas"/>
              </a:rPr>
              <a:t>cursor</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execute</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payments_log_query</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 </a:t>
            </a:r>
            <a:r>
              <a:rPr b="0" i="0" lang="en-US" sz="880" u="none" cap="none" strike="noStrike">
                <a:solidFill>
                  <a:srgbClr val="F8F8F2"/>
                </a:solidFill>
                <a:latin typeface="Consolas"/>
                <a:ea typeface="Consolas"/>
                <a:cs typeface="Consolas"/>
                <a:sym typeface="Consolas"/>
              </a:rPr>
              <a:t>(...))</a:t>
            </a:r>
            <a:br>
              <a:rPr b="0" i="0" lang="en-US" sz="880" u="none" cap="none" strike="noStrike">
                <a:solidFill>
                  <a:srgbClr val="FFFFFF"/>
                </a:solidFill>
                <a:latin typeface="Consolas"/>
                <a:ea typeface="Consolas"/>
                <a:cs typeface="Consolas"/>
                <a:sym typeface="Consolas"/>
              </a:rPr>
            </a:br>
            <a:r>
              <a:rPr b="0" i="0" lang="en-US" sz="880" u="none" cap="none" strike="noStrike">
                <a:solidFill>
                  <a:srgbClr val="8292A2"/>
                </a:solidFill>
                <a:latin typeface="Consolas"/>
                <a:ea typeface="Consolas"/>
                <a:cs typeface="Consolas"/>
                <a:sym typeface="Consolas"/>
              </a:rPr>
              <a:t>15 </a:t>
            </a:r>
            <a:r>
              <a:rPr b="0" i="0" lang="en-US" sz="880" u="none" cap="none" strike="noStrike">
                <a:solidFill>
                  <a:srgbClr val="FFFFFF"/>
                </a:solidFill>
                <a:latin typeface="Consolas"/>
                <a:ea typeface="Consolas"/>
                <a:cs typeface="Consolas"/>
                <a:sym typeface="Consolas"/>
              </a:rPr>
              <a:t>db</a:t>
            </a:r>
            <a:r>
              <a:rPr b="0" i="0" lang="en-US" sz="880" u="none" cap="none" strike="noStrike">
                <a:solidFill>
                  <a:srgbClr val="F8F8F2"/>
                </a:solidFill>
                <a:latin typeface="Consolas"/>
                <a:ea typeface="Consolas"/>
                <a:cs typeface="Consolas"/>
                <a:sym typeface="Consolas"/>
              </a:rPr>
              <a:t>.</a:t>
            </a:r>
            <a:r>
              <a:rPr b="0" i="0" lang="en-US" sz="880" u="none" cap="none" strike="noStrike">
                <a:solidFill>
                  <a:srgbClr val="FFFFFF"/>
                </a:solidFill>
                <a:latin typeface="Consolas"/>
                <a:ea typeface="Consolas"/>
                <a:cs typeface="Consolas"/>
                <a:sym typeface="Consolas"/>
              </a:rPr>
              <a:t>commit</a:t>
            </a:r>
            <a:r>
              <a:rPr b="0" i="0" lang="en-US" sz="880" u="none" cap="none" strike="noStrike">
                <a:solidFill>
                  <a:srgbClr val="F8F8F2"/>
                </a:solidFill>
                <a:latin typeface="Consolas"/>
                <a:ea typeface="Consolas"/>
                <a:cs typeface="Consolas"/>
                <a:sym typeface="Consolas"/>
              </a:rPr>
              <a:t>()       </a:t>
            </a:r>
            <a:endParaRPr b="0" i="0" sz="880" u="none" cap="none" strike="noStrike">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b="0" i="0" lang="en-US" sz="880" u="none" cap="none" strike="noStrike">
                <a:solidFill>
                  <a:srgbClr val="F8F8F2"/>
                </a:solidFill>
                <a:latin typeface="Consolas"/>
                <a:ea typeface="Consolas"/>
                <a:cs typeface="Consolas"/>
                <a:sym typeface="Consolas"/>
              </a:rPr>
              <a:t>const form = document.getElementById('payment-form');</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b="0" i="0" lang="en-US" sz="880" u="none" cap="none" strike="noStrike">
                <a:solidFill>
                  <a:srgbClr val="F8F8F2"/>
                </a:solidFill>
                <a:latin typeface="Consolas"/>
                <a:ea typeface="Consolas"/>
                <a:cs typeface="Consolas"/>
                <a:sym typeface="Consolas"/>
              </a:rPr>
              <a:t>const submit = document.getElementById('submit');</a:t>
            </a:r>
            <a:endParaRPr b="0" i="0" sz="880" u="none" cap="none" strike="noStrike">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b="0" i="0" lang="en-US" sz="880" u="none" cap="none" strike="noStrike">
                <a:solidFill>
                  <a:srgbClr val="F8F8F2"/>
                </a:solidFill>
                <a:latin typeface="Consolas"/>
                <a:ea typeface="Consolas"/>
                <a:cs typeface="Consolas"/>
                <a:sym typeface="Consolas"/>
              </a:rPr>
              <a:t>const cardErrors = document.getElementById('card-errors');</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t/>
            </a:r>
            <a:endParaRPr sz="880">
              <a:solidFill>
                <a:srgbClr val="F8F8F2"/>
              </a:solidFill>
              <a:latin typeface="Consolas"/>
              <a:ea typeface="Consolas"/>
              <a:cs typeface="Consolas"/>
              <a:sym typeface="Consolas"/>
            </a:endParaRPr>
          </a:p>
        </p:txBody>
      </p:sp>
      <p:sp>
        <p:nvSpPr>
          <p:cNvPr id="202" name="Google Shape;202;p15"/>
          <p:cNvSpPr/>
          <p:nvPr/>
        </p:nvSpPr>
        <p:spPr>
          <a:xfrm>
            <a:off x="7132320" y="1234440"/>
            <a:ext cx="3657600" cy="320040"/>
          </a:xfrm>
          <a:prstGeom prst="rect">
            <a:avLst/>
          </a:prstGeom>
          <a:noFill/>
          <a:ln>
            <a:noFill/>
          </a:ln>
        </p:spPr>
        <p:txBody>
          <a:bodyPr anchorCtr="0" anchor="ctr" bIns="750" lIns="750" spcFirstLastPara="1" rIns="750" wrap="square" tIns="750">
            <a:noAutofit/>
          </a:bodyPr>
          <a:lstStyle/>
          <a:p>
            <a:pPr indent="0" lvl="0" marL="0" marR="0" rtl="0" algn="l">
              <a:spcBef>
                <a:spcPts val="0"/>
              </a:spcBef>
              <a:spcAft>
                <a:spcPts val="0"/>
              </a:spcAft>
              <a:buClr>
                <a:srgbClr val="1C1B1A"/>
              </a:buClr>
              <a:buSzPts val="1900"/>
              <a:buFont typeface="Arial"/>
              <a:buNone/>
            </a:pPr>
            <a:r>
              <a:rPr b="1" lang="en-US" sz="1900">
                <a:solidFill>
                  <a:srgbClr val="1C1B1A"/>
                </a:solidFill>
              </a:rPr>
              <a:t>Payment Practices</a:t>
            </a:r>
            <a:endParaRPr b="0" i="0" sz="1900" u="none" cap="none" strike="noStrike">
              <a:solidFill>
                <a:schemeClr val="dk1"/>
              </a:solidFill>
              <a:latin typeface="Arial"/>
              <a:ea typeface="Arial"/>
              <a:cs typeface="Arial"/>
              <a:sym typeface="Arial"/>
            </a:endParaRPr>
          </a:p>
        </p:txBody>
      </p:sp>
      <p:sp>
        <p:nvSpPr>
          <p:cNvPr id="203" name="Google Shape;203;p15"/>
          <p:cNvSpPr/>
          <p:nvPr/>
        </p:nvSpPr>
        <p:spPr>
          <a:xfrm>
            <a:off x="7178040" y="1874520"/>
            <a:ext cx="3840480" cy="2057400"/>
          </a:xfrm>
          <a:prstGeom prst="rect">
            <a:avLst/>
          </a:prstGeom>
          <a:noFill/>
          <a:ln>
            <a:noFill/>
          </a:ln>
        </p:spPr>
        <p:txBody>
          <a:bodyPr anchorCtr="0" anchor="t" bIns="625" lIns="625" spcFirstLastPara="1" rIns="625" wrap="square" tIns="625">
            <a:noAutofit/>
          </a:bodyPr>
          <a:lstStyle/>
          <a:p>
            <a:pPr indent="-152400" lvl="0" marL="152400" marR="0" rtl="0" algn="l">
              <a:spcBef>
                <a:spcPts val="0"/>
              </a:spcBef>
              <a:spcAft>
                <a:spcPts val="0"/>
              </a:spcAft>
              <a:buClr>
                <a:srgbClr val="1C1B1A"/>
              </a:buClr>
              <a:buSzPts val="1300"/>
              <a:buFont typeface="Arial"/>
              <a:buChar char="•"/>
            </a:pPr>
            <a:r>
              <a:rPr b="0" i="0" lang="en-US" sz="1300" u="none" cap="none" strike="noStrike">
                <a:solidFill>
                  <a:srgbClr val="1C1B1A"/>
                </a:solidFill>
                <a:latin typeface="Arial"/>
                <a:ea typeface="Arial"/>
                <a:cs typeface="Arial"/>
                <a:sym typeface="Arial"/>
              </a:rPr>
              <a:t>Payment success is </a:t>
            </a:r>
            <a:r>
              <a:rPr lang="en-US" sz="1300">
                <a:solidFill>
                  <a:srgbClr val="1C1B1A"/>
                </a:solidFill>
              </a:rPr>
              <a:t>important </a:t>
            </a:r>
            <a:endParaRPr sz="1300">
              <a:solidFill>
                <a:srgbClr val="1C1B1A"/>
              </a:solidFill>
            </a:endParaRPr>
          </a:p>
          <a:p>
            <a:pPr indent="0" lvl="0" marL="457200" marR="0" rtl="0" algn="l">
              <a:spcBef>
                <a:spcPts val="0"/>
              </a:spcBef>
              <a:spcAft>
                <a:spcPts val="0"/>
              </a:spcAft>
              <a:buNone/>
            </a:pPr>
            <a:r>
              <a:t/>
            </a:r>
            <a:endParaRPr sz="1300">
              <a:solidFill>
                <a:srgbClr val="1C1B1A"/>
              </a:solidFill>
            </a:endParaRPr>
          </a:p>
          <a:p>
            <a:pPr indent="-152400" lvl="0" marL="152400" marR="0" rtl="0" algn="l">
              <a:spcBef>
                <a:spcPts val="0"/>
              </a:spcBef>
              <a:spcAft>
                <a:spcPts val="0"/>
              </a:spcAft>
              <a:buClr>
                <a:srgbClr val="1C1B1A"/>
              </a:buClr>
              <a:buSzPts val="1300"/>
              <a:buFont typeface="Arial"/>
              <a:buChar char="•"/>
            </a:pPr>
            <a:r>
              <a:rPr lang="en-US" sz="1300">
                <a:solidFill>
                  <a:srgbClr val="1C1B1A"/>
                </a:solidFill>
              </a:rPr>
              <a:t>User information never in plaintext</a:t>
            </a:r>
            <a:endParaRPr sz="1300">
              <a:solidFill>
                <a:srgbClr val="1C1B1A"/>
              </a:solidFill>
            </a:endParaRPr>
          </a:p>
          <a:p>
            <a:pPr indent="0" lvl="0" marL="457200" marR="0" rtl="0" algn="l">
              <a:spcBef>
                <a:spcPts val="0"/>
              </a:spcBef>
              <a:spcAft>
                <a:spcPts val="0"/>
              </a:spcAft>
              <a:buNone/>
            </a:pPr>
            <a:r>
              <a:t/>
            </a:r>
            <a:endParaRPr sz="1300">
              <a:solidFill>
                <a:srgbClr val="1C1B1A"/>
              </a:solidFill>
            </a:endParaRPr>
          </a:p>
          <a:p>
            <a:pPr indent="-152400" lvl="0" marL="152400" marR="0" rtl="0" algn="l">
              <a:spcBef>
                <a:spcPts val="0"/>
              </a:spcBef>
              <a:spcAft>
                <a:spcPts val="0"/>
              </a:spcAft>
              <a:buClr>
                <a:srgbClr val="1C1B1A"/>
              </a:buClr>
              <a:buSzPts val="1300"/>
              <a:buFont typeface="Arial"/>
              <a:buChar char="•"/>
            </a:pPr>
            <a:r>
              <a:rPr lang="en-US" sz="1300">
                <a:solidFill>
                  <a:srgbClr val="1C1B1A"/>
                </a:solidFill>
              </a:rPr>
              <a:t>Stripe API for payment, checks cards and handles many issues</a:t>
            </a:r>
            <a:endParaRPr sz="1300">
              <a:solidFill>
                <a:srgbClr val="1C1B1A"/>
              </a:solidFill>
            </a:endParaRPr>
          </a:p>
          <a:p>
            <a:pPr indent="0" lvl="0" marL="457200" marR="0" rtl="0" algn="l">
              <a:spcBef>
                <a:spcPts val="0"/>
              </a:spcBef>
              <a:spcAft>
                <a:spcPts val="0"/>
              </a:spcAft>
              <a:buNone/>
            </a:pPr>
            <a:r>
              <a:t/>
            </a:r>
            <a:endParaRPr sz="1300">
              <a:solidFill>
                <a:srgbClr val="1C1B1A"/>
              </a:solidFill>
            </a:endParaRPr>
          </a:p>
          <a:p>
            <a:pPr indent="-152400" lvl="0" marL="152400" marR="0" rtl="0" algn="l">
              <a:spcBef>
                <a:spcPts val="0"/>
              </a:spcBef>
              <a:spcAft>
                <a:spcPts val="0"/>
              </a:spcAft>
              <a:buClr>
                <a:srgbClr val="1C1B1A"/>
              </a:buClr>
              <a:buSzPts val="1300"/>
              <a:buFont typeface="Arial"/>
              <a:buChar char="•"/>
            </a:pPr>
            <a:r>
              <a:rPr lang="en-US" sz="1300">
                <a:solidFill>
                  <a:srgbClr val="1C1B1A"/>
                </a:solidFill>
              </a:rPr>
              <a:t>Wll identify valid and invalid cards for you and resolve payment.</a:t>
            </a:r>
            <a:endParaRPr b="0" i="0" sz="1300" u="none" cap="none" strike="noStrike">
              <a:solidFill>
                <a:schemeClr val="dk1"/>
              </a:solidFill>
              <a:latin typeface="Arial"/>
              <a:ea typeface="Arial"/>
              <a:cs typeface="Arial"/>
              <a:sym typeface="Arial"/>
            </a:endParaRPr>
          </a:p>
        </p:txBody>
      </p:sp>
      <p:sp>
        <p:nvSpPr>
          <p:cNvPr id="204" name="Google Shape;204;p15"/>
          <p:cNvSpPr/>
          <p:nvPr/>
        </p:nvSpPr>
        <p:spPr>
          <a:xfrm>
            <a:off x="7178040" y="443484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7D5A"/>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5" name="Google Shape;205;p15"/>
          <p:cNvSpPr/>
          <p:nvPr/>
        </p:nvSpPr>
        <p:spPr>
          <a:xfrm>
            <a:off x="7178040" y="4828032"/>
            <a:ext cx="3931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140"/>
              <a:buFont typeface="Arial"/>
              <a:buNone/>
            </a:pPr>
            <a:r>
              <a:t/>
            </a:r>
            <a:endParaRPr b="0" i="0" sz="1140" u="none" cap="none" strike="noStrike">
              <a:solidFill>
                <a:schemeClr val="dk1"/>
              </a:solidFill>
              <a:latin typeface="Arial"/>
              <a:ea typeface="Arial"/>
              <a:cs typeface="Arial"/>
              <a:sym typeface="Arial"/>
            </a:endParaRPr>
          </a:p>
        </p:txBody>
      </p:sp>
      <p:sp>
        <p:nvSpPr>
          <p:cNvPr id="206" name="Google Shape;206;p15"/>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p:nvPr/>
        </p:nvSpPr>
        <p:spPr>
          <a:xfrm>
            <a:off x="548640" y="320040"/>
            <a:ext cx="7863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i="0" lang="en-US" sz="2600" u="none" cap="none" strike="noStrike">
                <a:solidFill>
                  <a:srgbClr val="1C1B1A"/>
                </a:solidFill>
                <a:latin typeface="Play"/>
                <a:ea typeface="Play"/>
                <a:cs typeface="Play"/>
                <a:sym typeface="Play"/>
              </a:rPr>
              <a:t>Code snippets: </a:t>
            </a:r>
            <a:r>
              <a:rPr b="1" lang="en-US" sz="2600">
                <a:solidFill>
                  <a:srgbClr val="1C1B1A"/>
                </a:solidFill>
                <a:latin typeface="Play"/>
                <a:ea typeface="Play"/>
                <a:cs typeface="Play"/>
                <a:sym typeface="Play"/>
              </a:rPr>
              <a:t>Docker</a:t>
            </a:r>
            <a:r>
              <a:rPr b="1" i="0" lang="en-US" sz="2600" u="none" cap="none" strike="noStrike">
                <a:solidFill>
                  <a:srgbClr val="1C1B1A"/>
                </a:solidFill>
                <a:latin typeface="Play"/>
                <a:ea typeface="Play"/>
                <a:cs typeface="Play"/>
                <a:sym typeface="Play"/>
              </a:rPr>
              <a:t> and </a:t>
            </a:r>
            <a:r>
              <a:rPr b="1" lang="en-US" sz="2600">
                <a:solidFill>
                  <a:srgbClr val="1C1B1A"/>
                </a:solidFill>
                <a:latin typeface="Play"/>
                <a:ea typeface="Play"/>
                <a:cs typeface="Play"/>
                <a:sym typeface="Play"/>
              </a:rPr>
              <a:t>Kubernetes</a:t>
            </a:r>
            <a:endParaRPr b="0" i="0" sz="2600" u="none" cap="none" strike="noStrike">
              <a:solidFill>
                <a:schemeClr val="dk1"/>
              </a:solidFill>
              <a:latin typeface="Arial"/>
              <a:ea typeface="Arial"/>
              <a:cs typeface="Arial"/>
              <a:sym typeface="Arial"/>
            </a:endParaRPr>
          </a:p>
        </p:txBody>
      </p:sp>
      <p:sp>
        <p:nvSpPr>
          <p:cNvPr id="213" name="Google Shape;213;p16"/>
          <p:cNvSpPr/>
          <p:nvPr/>
        </p:nvSpPr>
        <p:spPr>
          <a:xfrm>
            <a:off x="566928" y="786384"/>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050"/>
              <a:buFont typeface="Arial"/>
              <a:buNone/>
            </a:pPr>
            <a:r>
              <a:rPr lang="en-US" sz="1050">
                <a:solidFill>
                  <a:srgbClr val="655E55"/>
                </a:solidFill>
              </a:rPr>
              <a:t>Docker and Kube help </a:t>
            </a:r>
            <a:r>
              <a:rPr lang="en-US" sz="1050">
                <a:solidFill>
                  <a:srgbClr val="655E55"/>
                </a:solidFill>
              </a:rPr>
              <a:t>create</a:t>
            </a:r>
            <a:r>
              <a:rPr lang="en-US" sz="1050">
                <a:solidFill>
                  <a:srgbClr val="655E55"/>
                </a:solidFill>
              </a:rPr>
              <a:t> a smooth deployment process.</a:t>
            </a:r>
            <a:endParaRPr b="0" i="0" sz="1050" u="none" cap="none" strike="noStrike">
              <a:solidFill>
                <a:schemeClr val="dk1"/>
              </a:solidFill>
              <a:latin typeface="Arial"/>
              <a:ea typeface="Arial"/>
              <a:cs typeface="Arial"/>
              <a:sym typeface="Arial"/>
            </a:endParaRPr>
          </a:p>
        </p:txBody>
      </p:sp>
      <p:sp>
        <p:nvSpPr>
          <p:cNvPr id="214" name="Google Shape;214;p16"/>
          <p:cNvSpPr/>
          <p:nvPr/>
        </p:nvSpPr>
        <p:spPr>
          <a:xfrm>
            <a:off x="777240" y="1143000"/>
            <a:ext cx="5852100" cy="4755000"/>
          </a:xfrm>
          <a:prstGeom prst="roundRect">
            <a:avLst>
              <a:gd fmla="val 1538" name="adj"/>
            </a:avLst>
          </a:prstGeom>
          <a:solidFill>
            <a:srgbClr val="14222C"/>
          </a:solidFill>
          <a:ln cap="flat" cmpd="sng" w="12700">
            <a:solidFill>
              <a:srgbClr val="2E3B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
          <p:cNvSpPr/>
          <p:nvPr/>
        </p:nvSpPr>
        <p:spPr>
          <a:xfrm>
            <a:off x="886968" y="1252728"/>
            <a:ext cx="5632800" cy="45354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FROM python:3.12-slim</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WORKDIR /app</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COPY requirements.txt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RUN pip install -r requirements.txt</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COPY ./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EXPOSE 5005</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CMD ["python", "</a:t>
            </a:r>
            <a:r>
              <a:rPr lang="en-US" sz="880" u="sng">
                <a:solidFill>
                  <a:schemeClr val="hlink"/>
                </a:solidFill>
                <a:latin typeface="Consolas"/>
                <a:ea typeface="Consolas"/>
                <a:cs typeface="Consolas"/>
                <a:sym typeface="Consolas"/>
                <a:hlinkClick r:id="rId3"/>
              </a:rPr>
              <a:t>app.py</a:t>
            </a:r>
            <a:r>
              <a:rPr lang="en-US" sz="880">
                <a:solidFill>
                  <a:srgbClr val="F8F8F2"/>
                </a:solidFill>
                <a:latin typeface="Consolas"/>
                <a:ea typeface="Consolas"/>
                <a:cs typeface="Consolas"/>
                <a:sym typeface="Consolas"/>
              </a:rPr>
              <a:t>"]</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apiVersion: v1</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kind: Pod</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metadata:</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  name: aura-app</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  labels: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    app: aura-app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spec:</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  containers:</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  - name: aura-app</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    image: aura-app:v1</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    imagePullPolicy: Never</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    env: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echo -e "Building Docker image in Minikube..."</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eval $(minikube docker-env)</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rPr lang="en-US" sz="880">
                <a:solidFill>
                  <a:srgbClr val="F8F8F2"/>
                </a:solidFill>
                <a:latin typeface="Consolas"/>
                <a:ea typeface="Consolas"/>
                <a:cs typeface="Consolas"/>
                <a:sym typeface="Consolas"/>
              </a:rPr>
              <a:t>docker build -t aura-app:v1 .</a:t>
            </a:r>
            <a:endParaRPr sz="880">
              <a:solidFill>
                <a:srgbClr val="F8F8F2"/>
              </a:solidFill>
              <a:latin typeface="Consolas"/>
              <a:ea typeface="Consolas"/>
              <a:cs typeface="Consolas"/>
              <a:sym typeface="Consolas"/>
            </a:endParaRPr>
          </a:p>
          <a:p>
            <a:pPr indent="0" lvl="0" marL="0" marR="0" rtl="0" algn="l">
              <a:spcBef>
                <a:spcPts val="0"/>
              </a:spcBef>
              <a:spcAft>
                <a:spcPts val="0"/>
              </a:spcAft>
              <a:buClr>
                <a:srgbClr val="8292A2"/>
              </a:buClr>
              <a:buSzPts val="880"/>
              <a:buFont typeface="Consolas"/>
              <a:buNone/>
            </a:pPr>
            <a:r>
              <a:t/>
            </a:r>
            <a:endParaRPr sz="880">
              <a:solidFill>
                <a:srgbClr val="F8F8F2"/>
              </a:solidFill>
              <a:latin typeface="Consolas"/>
              <a:ea typeface="Consolas"/>
              <a:cs typeface="Consolas"/>
              <a:sym typeface="Consolas"/>
            </a:endParaRPr>
          </a:p>
        </p:txBody>
      </p:sp>
      <p:sp>
        <p:nvSpPr>
          <p:cNvPr id="216" name="Google Shape;216;p16"/>
          <p:cNvSpPr/>
          <p:nvPr/>
        </p:nvSpPr>
        <p:spPr>
          <a:xfrm>
            <a:off x="7132320" y="1234440"/>
            <a:ext cx="3657600" cy="320100"/>
          </a:xfrm>
          <a:prstGeom prst="rect">
            <a:avLst/>
          </a:prstGeom>
          <a:noFill/>
          <a:ln>
            <a:noFill/>
          </a:ln>
        </p:spPr>
        <p:txBody>
          <a:bodyPr anchorCtr="0" anchor="ctr" bIns="750" lIns="750" spcFirstLastPara="1" rIns="750" wrap="square" tIns="750">
            <a:noAutofit/>
          </a:bodyPr>
          <a:lstStyle/>
          <a:p>
            <a:pPr indent="0" lvl="0" marL="0" marR="0" rtl="0" algn="l">
              <a:spcBef>
                <a:spcPts val="0"/>
              </a:spcBef>
              <a:spcAft>
                <a:spcPts val="0"/>
              </a:spcAft>
              <a:buClr>
                <a:srgbClr val="1C1B1A"/>
              </a:buClr>
              <a:buSzPts val="1900"/>
              <a:buFont typeface="Arial"/>
              <a:buNone/>
            </a:pPr>
            <a:r>
              <a:rPr b="1" lang="en-US" sz="1900">
                <a:solidFill>
                  <a:srgbClr val="1C1B1A"/>
                </a:solidFill>
              </a:rPr>
              <a:t>Automating and Reducing Toil</a:t>
            </a:r>
            <a:endParaRPr b="0" i="0" sz="1900" u="none" cap="none" strike="noStrike">
              <a:solidFill>
                <a:schemeClr val="dk1"/>
              </a:solidFill>
              <a:latin typeface="Arial"/>
              <a:ea typeface="Arial"/>
              <a:cs typeface="Arial"/>
              <a:sym typeface="Arial"/>
            </a:endParaRPr>
          </a:p>
        </p:txBody>
      </p:sp>
      <p:sp>
        <p:nvSpPr>
          <p:cNvPr id="217" name="Google Shape;217;p16"/>
          <p:cNvSpPr/>
          <p:nvPr/>
        </p:nvSpPr>
        <p:spPr>
          <a:xfrm>
            <a:off x="7178050" y="1874527"/>
            <a:ext cx="3840600" cy="2816100"/>
          </a:xfrm>
          <a:prstGeom prst="rect">
            <a:avLst/>
          </a:prstGeom>
          <a:noFill/>
          <a:ln>
            <a:noFill/>
          </a:ln>
        </p:spPr>
        <p:txBody>
          <a:bodyPr anchorCtr="0" anchor="t" bIns="625" lIns="625" spcFirstLastPara="1" rIns="625" wrap="square" tIns="625">
            <a:noAutofit/>
          </a:bodyPr>
          <a:lstStyle/>
          <a:p>
            <a:pPr indent="-152400" lvl="0" marL="152400" marR="0" rtl="0" algn="l">
              <a:spcBef>
                <a:spcPts val="0"/>
              </a:spcBef>
              <a:spcAft>
                <a:spcPts val="0"/>
              </a:spcAft>
              <a:buClr>
                <a:srgbClr val="1C1B1A"/>
              </a:buClr>
              <a:buSzPts val="1300"/>
              <a:buFont typeface="Arial"/>
              <a:buChar char="•"/>
            </a:pPr>
            <a:r>
              <a:rPr lang="en-US" sz="1300">
                <a:solidFill>
                  <a:schemeClr val="dk1"/>
                </a:solidFill>
              </a:rPr>
              <a:t>Dockerising the process, allowing it to be placed in a container, and run in other environments and </a:t>
            </a:r>
            <a:r>
              <a:rPr lang="en-US" sz="1300">
                <a:solidFill>
                  <a:schemeClr val="dk1"/>
                </a:solidFill>
              </a:rPr>
              <a:t>building</a:t>
            </a:r>
            <a:r>
              <a:rPr lang="en-US" sz="1300">
                <a:solidFill>
                  <a:schemeClr val="dk1"/>
                </a:solidFill>
              </a:rPr>
              <a:t> an image.</a:t>
            </a:r>
            <a:endParaRPr sz="1300">
              <a:solidFill>
                <a:schemeClr val="dk1"/>
              </a:solidFill>
            </a:endParaRPr>
          </a:p>
          <a:p>
            <a:pPr indent="0" lvl="0" marL="457200" marR="0" rtl="0" algn="l">
              <a:spcBef>
                <a:spcPts val="0"/>
              </a:spcBef>
              <a:spcAft>
                <a:spcPts val="0"/>
              </a:spcAft>
              <a:buNone/>
            </a:pPr>
            <a:r>
              <a:t/>
            </a:r>
            <a:endParaRPr sz="1300">
              <a:solidFill>
                <a:schemeClr val="dk1"/>
              </a:solidFill>
            </a:endParaRPr>
          </a:p>
          <a:p>
            <a:pPr indent="-152400" lvl="0" marL="152400" rtl="0" algn="l">
              <a:spcBef>
                <a:spcPts val="0"/>
              </a:spcBef>
              <a:spcAft>
                <a:spcPts val="0"/>
              </a:spcAft>
              <a:buClr>
                <a:schemeClr val="dk1"/>
              </a:buClr>
              <a:buSzPts val="1300"/>
              <a:buChar char="•"/>
            </a:pPr>
            <a:r>
              <a:rPr lang="en-US" sz="1300">
                <a:solidFill>
                  <a:schemeClr val="dk1"/>
                </a:solidFill>
              </a:rPr>
              <a:t>C</a:t>
            </a:r>
            <a:r>
              <a:rPr lang="en-US" sz="1300">
                <a:solidFill>
                  <a:schemeClr val="dk1"/>
                </a:solidFill>
              </a:rPr>
              <a:t>onfiguration maps for environment variables and applying them to the image build.</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152400" lvl="0" marL="152400" rtl="0" algn="l">
              <a:spcBef>
                <a:spcPts val="0"/>
              </a:spcBef>
              <a:spcAft>
                <a:spcPts val="0"/>
              </a:spcAft>
              <a:buClr>
                <a:schemeClr val="dk1"/>
              </a:buClr>
              <a:buSzPts val="1300"/>
              <a:buChar char="•"/>
            </a:pPr>
            <a:r>
              <a:rPr lang="en-US" sz="1300">
                <a:solidFill>
                  <a:schemeClr val="dk1"/>
                </a:solidFill>
              </a:rPr>
              <a:t>Deploying image to kubernetes</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152400" lvl="0" marL="152400" marR="0" rtl="0" algn="l">
              <a:spcBef>
                <a:spcPts val="0"/>
              </a:spcBef>
              <a:spcAft>
                <a:spcPts val="0"/>
              </a:spcAft>
              <a:buClr>
                <a:srgbClr val="1C1B1A"/>
              </a:buClr>
              <a:buSzPts val="1300"/>
              <a:buFont typeface="Arial"/>
              <a:buChar char="•"/>
            </a:pPr>
            <a:r>
              <a:rPr lang="en-US" sz="1300">
                <a:solidFill>
                  <a:schemeClr val="dk1"/>
                </a:solidFill>
              </a:rPr>
              <a:t>Creating scripts for builds and running of the application - reducing redundancy</a:t>
            </a:r>
            <a:endParaRPr sz="1300">
              <a:solidFill>
                <a:schemeClr val="dk1"/>
              </a:solidFill>
            </a:endParaRPr>
          </a:p>
        </p:txBody>
      </p:sp>
      <p:sp>
        <p:nvSpPr>
          <p:cNvPr id="218" name="Google Shape;218;p16"/>
          <p:cNvSpPr/>
          <p:nvPr/>
        </p:nvSpPr>
        <p:spPr>
          <a:xfrm>
            <a:off x="7178040" y="4434840"/>
            <a:ext cx="1828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7D5A"/>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19" name="Google Shape;219;p16"/>
          <p:cNvSpPr/>
          <p:nvPr/>
        </p:nvSpPr>
        <p:spPr>
          <a:xfrm>
            <a:off x="7178040" y="4828032"/>
            <a:ext cx="393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140"/>
              <a:buFont typeface="Arial"/>
              <a:buNone/>
            </a:pPr>
            <a:r>
              <a:t/>
            </a:r>
            <a:endParaRPr b="0" i="0" sz="1140" u="none" cap="none" strike="noStrike">
              <a:solidFill>
                <a:schemeClr val="dk1"/>
              </a:solidFill>
              <a:latin typeface="Arial"/>
              <a:ea typeface="Arial"/>
              <a:cs typeface="Arial"/>
              <a:sym typeface="Arial"/>
            </a:endParaRPr>
          </a:p>
        </p:txBody>
      </p:sp>
      <p:sp>
        <p:nvSpPr>
          <p:cNvPr id="220" name="Google Shape;220;p16"/>
          <p:cNvSpPr txBox="1"/>
          <p:nvPr>
            <p:ph idx="4294967295" type="sldNum"/>
          </p:nvPr>
        </p:nvSpPr>
        <p:spPr>
          <a:xfrm>
            <a:off x="11475720" y="6492240"/>
            <a:ext cx="8001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7"/>
          <p:cNvSpPr/>
          <p:nvPr/>
        </p:nvSpPr>
        <p:spPr>
          <a:xfrm>
            <a:off x="548640" y="32004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2600"/>
              <a:buFont typeface="Play"/>
              <a:buNone/>
            </a:pPr>
            <a:r>
              <a:rPr b="1" lang="en-US" sz="2600">
                <a:solidFill>
                  <a:srgbClr val="1C1B1A"/>
                </a:solidFill>
                <a:latin typeface="Play"/>
                <a:ea typeface="Play"/>
                <a:cs typeface="Play"/>
                <a:sym typeface="Play"/>
              </a:rPr>
              <a:t>Future Improvements//Objectives</a:t>
            </a:r>
            <a:endParaRPr b="0" i="0" sz="2600" u="none" cap="none" strike="noStrike">
              <a:solidFill>
                <a:schemeClr val="dk1"/>
              </a:solidFill>
              <a:latin typeface="Arial"/>
              <a:ea typeface="Arial"/>
              <a:cs typeface="Arial"/>
              <a:sym typeface="Arial"/>
            </a:endParaRPr>
          </a:p>
        </p:txBody>
      </p:sp>
      <p:sp>
        <p:nvSpPr>
          <p:cNvPr id="227" name="Google Shape;227;p17"/>
          <p:cNvSpPr/>
          <p:nvPr/>
        </p:nvSpPr>
        <p:spPr>
          <a:xfrm>
            <a:off x="822950" y="1655827"/>
            <a:ext cx="1280100" cy="67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7D5A"/>
              </a:buClr>
              <a:buSzPts val="1700"/>
              <a:buFont typeface="Arial"/>
              <a:buNone/>
            </a:pPr>
            <a:r>
              <a:rPr b="1" lang="en-US" sz="1700">
                <a:solidFill>
                  <a:srgbClr val="3D7D5A"/>
                </a:solidFill>
              </a:rPr>
              <a:t>Detailed Views</a:t>
            </a:r>
            <a:endParaRPr b="0" i="0" sz="1700" u="none" cap="none" strike="noStrike">
              <a:solidFill>
                <a:schemeClr val="dk1"/>
              </a:solidFill>
              <a:latin typeface="Arial"/>
              <a:ea typeface="Arial"/>
              <a:cs typeface="Arial"/>
              <a:sym typeface="Arial"/>
            </a:endParaRPr>
          </a:p>
        </p:txBody>
      </p:sp>
      <p:cxnSp>
        <p:nvCxnSpPr>
          <p:cNvPr id="228" name="Google Shape;228;p17"/>
          <p:cNvCxnSpPr/>
          <p:nvPr/>
        </p:nvCxnSpPr>
        <p:spPr>
          <a:xfrm>
            <a:off x="2286000" y="1600200"/>
            <a:ext cx="0" cy="731520"/>
          </a:xfrm>
          <a:prstGeom prst="straightConnector1">
            <a:avLst/>
          </a:prstGeom>
          <a:noFill/>
          <a:ln cap="flat" cmpd="sng" w="38100">
            <a:solidFill>
              <a:srgbClr val="3D7D5A"/>
            </a:solidFill>
            <a:prstDash val="solid"/>
            <a:round/>
            <a:headEnd len="sm" w="sm" type="none"/>
            <a:tailEnd len="sm" w="sm" type="none"/>
          </a:ln>
        </p:spPr>
      </p:cxnSp>
      <p:sp>
        <p:nvSpPr>
          <p:cNvPr id="229" name="Google Shape;229;p17"/>
          <p:cNvSpPr/>
          <p:nvPr/>
        </p:nvSpPr>
        <p:spPr>
          <a:xfrm>
            <a:off x="2560325" y="1655849"/>
            <a:ext cx="8503800" cy="67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1250"/>
              <a:buFont typeface="Arial"/>
              <a:buNone/>
            </a:pPr>
            <a:r>
              <a:rPr lang="en-US" sz="1250">
                <a:solidFill>
                  <a:srgbClr val="1C1B1A"/>
                </a:solidFill>
              </a:rPr>
              <a:t>While often being able to see payment and order history, no way to deep dive on to what was ordered or see a modular breakdown of the order itself. Would be ideal.</a:t>
            </a:r>
            <a:endParaRPr b="0" i="0" sz="1250" u="none" cap="none" strike="noStrike">
              <a:solidFill>
                <a:schemeClr val="dk1"/>
              </a:solidFill>
              <a:latin typeface="Arial"/>
              <a:ea typeface="Arial"/>
              <a:cs typeface="Arial"/>
              <a:sym typeface="Arial"/>
            </a:endParaRPr>
          </a:p>
        </p:txBody>
      </p:sp>
      <p:sp>
        <p:nvSpPr>
          <p:cNvPr id="230" name="Google Shape;230;p17"/>
          <p:cNvSpPr/>
          <p:nvPr/>
        </p:nvSpPr>
        <p:spPr>
          <a:xfrm>
            <a:off x="822950" y="2926075"/>
            <a:ext cx="12801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923A"/>
              </a:buClr>
              <a:buSzPts val="1700"/>
              <a:buFont typeface="Arial"/>
              <a:buNone/>
            </a:pPr>
            <a:r>
              <a:rPr b="1" lang="en-US" sz="1700">
                <a:solidFill>
                  <a:srgbClr val="C9923A"/>
                </a:solidFill>
              </a:rPr>
              <a:t>Always logged in?</a:t>
            </a:r>
            <a:endParaRPr b="0" i="0" sz="1700" u="none" cap="none" strike="noStrike">
              <a:solidFill>
                <a:schemeClr val="dk1"/>
              </a:solidFill>
              <a:latin typeface="Arial"/>
              <a:ea typeface="Arial"/>
              <a:cs typeface="Arial"/>
              <a:sym typeface="Arial"/>
            </a:endParaRPr>
          </a:p>
        </p:txBody>
      </p:sp>
      <p:cxnSp>
        <p:nvCxnSpPr>
          <p:cNvPr id="231" name="Google Shape;231;p17"/>
          <p:cNvCxnSpPr/>
          <p:nvPr/>
        </p:nvCxnSpPr>
        <p:spPr>
          <a:xfrm>
            <a:off x="2286000" y="2926080"/>
            <a:ext cx="0" cy="731520"/>
          </a:xfrm>
          <a:prstGeom prst="straightConnector1">
            <a:avLst/>
          </a:prstGeom>
          <a:noFill/>
          <a:ln cap="flat" cmpd="sng" w="38100">
            <a:solidFill>
              <a:srgbClr val="C9923A"/>
            </a:solidFill>
            <a:prstDash val="solid"/>
            <a:round/>
            <a:headEnd len="sm" w="sm" type="none"/>
            <a:tailEnd len="sm" w="sm" type="none"/>
          </a:ln>
        </p:spPr>
      </p:cxnSp>
      <p:sp>
        <p:nvSpPr>
          <p:cNvPr id="232" name="Google Shape;232;p17"/>
          <p:cNvSpPr/>
          <p:nvPr/>
        </p:nvSpPr>
        <p:spPr>
          <a:xfrm>
            <a:off x="2560325" y="2926100"/>
            <a:ext cx="85038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1250"/>
              <a:buFont typeface="Arial"/>
              <a:buNone/>
            </a:pPr>
            <a:r>
              <a:rPr lang="en-US" sz="1250">
                <a:solidFill>
                  <a:srgbClr val="1C1B1A"/>
                </a:solidFill>
              </a:rPr>
              <a:t>Current processes relies heavily on user account for processes, makes passing information easy, however, while convenient, users </a:t>
            </a:r>
            <a:r>
              <a:rPr lang="en-US" sz="1250">
                <a:solidFill>
                  <a:srgbClr val="1C1B1A"/>
                </a:solidFill>
              </a:rPr>
              <a:t>would</a:t>
            </a:r>
            <a:r>
              <a:rPr lang="en-US" sz="1250">
                <a:solidFill>
                  <a:srgbClr val="1C1B1A"/>
                </a:solidFill>
              </a:rPr>
              <a:t> be able to make a booking </a:t>
            </a:r>
            <a:r>
              <a:rPr lang="en-US" sz="1250">
                <a:solidFill>
                  <a:srgbClr val="1C1B1A"/>
                </a:solidFill>
              </a:rPr>
              <a:t>without making an account.</a:t>
            </a:r>
            <a:endParaRPr b="0" i="0" sz="1250" u="none" cap="none" strike="noStrike">
              <a:solidFill>
                <a:schemeClr val="dk1"/>
              </a:solidFill>
              <a:latin typeface="Arial"/>
              <a:ea typeface="Arial"/>
              <a:cs typeface="Arial"/>
              <a:sym typeface="Arial"/>
            </a:endParaRPr>
          </a:p>
        </p:txBody>
      </p:sp>
      <p:sp>
        <p:nvSpPr>
          <p:cNvPr id="233" name="Google Shape;233;p17"/>
          <p:cNvSpPr/>
          <p:nvPr/>
        </p:nvSpPr>
        <p:spPr>
          <a:xfrm>
            <a:off x="822988" y="4279762"/>
            <a:ext cx="1280100" cy="67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3A"/>
              </a:buClr>
              <a:buSzPts val="1700"/>
              <a:buFont typeface="Arial"/>
              <a:buNone/>
            </a:pPr>
            <a:r>
              <a:rPr b="1" lang="en-US" sz="1700">
                <a:solidFill>
                  <a:srgbClr val="A55A3A"/>
                </a:solidFill>
              </a:rPr>
              <a:t>Advanced Menu</a:t>
            </a:r>
            <a:endParaRPr b="0" i="0" sz="1700" u="none" cap="none" strike="noStrike">
              <a:solidFill>
                <a:schemeClr val="dk1"/>
              </a:solidFill>
              <a:latin typeface="Arial"/>
              <a:ea typeface="Arial"/>
              <a:cs typeface="Arial"/>
              <a:sym typeface="Arial"/>
            </a:endParaRPr>
          </a:p>
        </p:txBody>
      </p:sp>
      <p:cxnSp>
        <p:nvCxnSpPr>
          <p:cNvPr id="234" name="Google Shape;234;p17"/>
          <p:cNvCxnSpPr/>
          <p:nvPr/>
        </p:nvCxnSpPr>
        <p:spPr>
          <a:xfrm>
            <a:off x="2286000" y="4251960"/>
            <a:ext cx="0" cy="731520"/>
          </a:xfrm>
          <a:prstGeom prst="straightConnector1">
            <a:avLst/>
          </a:prstGeom>
          <a:noFill/>
          <a:ln cap="flat" cmpd="sng" w="38100">
            <a:solidFill>
              <a:srgbClr val="A55A3A"/>
            </a:solidFill>
            <a:prstDash val="solid"/>
            <a:round/>
            <a:headEnd len="sm" w="sm" type="none"/>
            <a:tailEnd len="sm" w="sm" type="none"/>
          </a:ln>
        </p:spPr>
      </p:cxnSp>
      <p:sp>
        <p:nvSpPr>
          <p:cNvPr id="235" name="Google Shape;235;p17"/>
          <p:cNvSpPr/>
          <p:nvPr/>
        </p:nvSpPr>
        <p:spPr>
          <a:xfrm>
            <a:off x="2560325" y="4307627"/>
            <a:ext cx="8503800" cy="67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1250"/>
              <a:buFont typeface="Arial"/>
              <a:buNone/>
            </a:pPr>
            <a:r>
              <a:rPr lang="en-US" sz="1250">
                <a:solidFill>
                  <a:srgbClr val="1C1B1A"/>
                </a:solidFill>
              </a:rPr>
              <a:t>A </a:t>
            </a:r>
            <a:r>
              <a:rPr lang="en-US" sz="1250">
                <a:solidFill>
                  <a:srgbClr val="1C1B1A"/>
                </a:solidFill>
              </a:rPr>
              <a:t>menu</a:t>
            </a:r>
            <a:r>
              <a:rPr lang="en-US" sz="1250">
                <a:solidFill>
                  <a:srgbClr val="1C1B1A"/>
                </a:solidFill>
              </a:rPr>
              <a:t> with images, that allows fo searches, filtering, sorting to let the user view the menu based on their preferences</a:t>
            </a:r>
            <a:endParaRPr b="0" i="0" sz="1250" u="none" cap="none" strike="noStrike">
              <a:solidFill>
                <a:schemeClr val="dk1"/>
              </a:solidFill>
              <a:latin typeface="Arial"/>
              <a:ea typeface="Arial"/>
              <a:cs typeface="Arial"/>
              <a:sym typeface="Arial"/>
            </a:endParaRPr>
          </a:p>
        </p:txBody>
      </p:sp>
      <p:sp>
        <p:nvSpPr>
          <p:cNvPr id="236" name="Google Shape;236;p17"/>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
        <p:nvSpPr>
          <p:cNvPr id="237" name="Google Shape;237;p17"/>
          <p:cNvSpPr/>
          <p:nvPr/>
        </p:nvSpPr>
        <p:spPr>
          <a:xfrm>
            <a:off x="822988" y="5569062"/>
            <a:ext cx="1280100" cy="67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3A"/>
              </a:buClr>
              <a:buSzPts val="1700"/>
              <a:buFont typeface="Arial"/>
              <a:buNone/>
            </a:pPr>
            <a:r>
              <a:rPr b="1" lang="en-US" sz="1700">
                <a:solidFill>
                  <a:srgbClr val="A55A3A"/>
                </a:solidFill>
              </a:rPr>
              <a:t>Add Items</a:t>
            </a:r>
            <a:endParaRPr b="0" i="0" sz="1700" u="none" cap="none" strike="noStrike">
              <a:solidFill>
                <a:schemeClr val="dk1"/>
              </a:solidFill>
              <a:latin typeface="Arial"/>
              <a:ea typeface="Arial"/>
              <a:cs typeface="Arial"/>
              <a:sym typeface="Arial"/>
            </a:endParaRPr>
          </a:p>
        </p:txBody>
      </p:sp>
      <p:cxnSp>
        <p:nvCxnSpPr>
          <p:cNvPr id="238" name="Google Shape;238;p17"/>
          <p:cNvCxnSpPr/>
          <p:nvPr/>
        </p:nvCxnSpPr>
        <p:spPr>
          <a:xfrm>
            <a:off x="2286000" y="5541260"/>
            <a:ext cx="0" cy="731400"/>
          </a:xfrm>
          <a:prstGeom prst="straightConnector1">
            <a:avLst/>
          </a:prstGeom>
          <a:noFill/>
          <a:ln cap="flat" cmpd="sng" w="38100">
            <a:solidFill>
              <a:srgbClr val="A55A3A"/>
            </a:solidFill>
            <a:prstDash val="solid"/>
            <a:round/>
            <a:headEnd len="sm" w="sm" type="none"/>
            <a:tailEnd len="sm" w="sm" type="none"/>
          </a:ln>
        </p:spPr>
      </p:cxnSp>
      <p:sp>
        <p:nvSpPr>
          <p:cNvPr id="239" name="Google Shape;239;p17"/>
          <p:cNvSpPr/>
          <p:nvPr/>
        </p:nvSpPr>
        <p:spPr>
          <a:xfrm>
            <a:off x="2560325" y="5596927"/>
            <a:ext cx="8503800" cy="67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1250"/>
              <a:buFont typeface="Arial"/>
              <a:buNone/>
            </a:pPr>
            <a:r>
              <a:rPr lang="en-US" sz="1250">
                <a:solidFill>
                  <a:srgbClr val="1C1B1A"/>
                </a:solidFill>
              </a:rPr>
              <a:t>Admin could have the ability to add new items from the menu themselves, not just done from the database manually.</a:t>
            </a:r>
            <a:endParaRPr b="0" i="0" sz="125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mnt/data/restaurant_narrow.jpg" id="245" name="Google Shape;245;p18"/>
          <p:cNvPicPr preferRelativeResize="0"/>
          <p:nvPr/>
        </p:nvPicPr>
        <p:blipFill rotWithShape="1">
          <a:blip r:embed="rId3">
            <a:alphaModFix/>
          </a:blip>
          <a:srcRect b="0" l="0" r="0" t="0"/>
          <a:stretch/>
        </p:blipFill>
        <p:spPr>
          <a:xfrm>
            <a:off x="8001000" y="640080"/>
            <a:ext cx="3566160" cy="5394960"/>
          </a:xfrm>
          <a:prstGeom prst="rect">
            <a:avLst/>
          </a:prstGeom>
          <a:noFill/>
          <a:ln>
            <a:noFill/>
          </a:ln>
        </p:spPr>
      </p:pic>
      <p:sp>
        <p:nvSpPr>
          <p:cNvPr id="246" name="Google Shape;246;p18"/>
          <p:cNvSpPr/>
          <p:nvPr/>
        </p:nvSpPr>
        <p:spPr>
          <a:xfrm>
            <a:off x="685800" y="594360"/>
            <a:ext cx="4572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B1A"/>
              </a:buClr>
              <a:buSzPts val="3400"/>
              <a:buFont typeface="Play"/>
              <a:buNone/>
            </a:pPr>
            <a:r>
              <a:rPr b="1" i="0" lang="en-US" sz="3400" u="none" cap="none" strike="noStrike">
                <a:solidFill>
                  <a:srgbClr val="1C1B1A"/>
                </a:solidFill>
                <a:latin typeface="Play"/>
                <a:ea typeface="Play"/>
                <a:cs typeface="Play"/>
                <a:sym typeface="Play"/>
              </a:rPr>
              <a:t>Conclusion</a:t>
            </a:r>
            <a:endParaRPr b="0" i="0" sz="3400" u="none" cap="none" strike="noStrike">
              <a:solidFill>
                <a:schemeClr val="dk1"/>
              </a:solidFill>
              <a:latin typeface="Arial"/>
              <a:ea typeface="Arial"/>
              <a:cs typeface="Arial"/>
              <a:sym typeface="Arial"/>
            </a:endParaRPr>
          </a:p>
        </p:txBody>
      </p:sp>
      <p:sp>
        <p:nvSpPr>
          <p:cNvPr id="247" name="Google Shape;247;p18"/>
          <p:cNvSpPr/>
          <p:nvPr/>
        </p:nvSpPr>
        <p:spPr>
          <a:xfrm>
            <a:off x="713232" y="1298448"/>
            <a:ext cx="6492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55E55"/>
              </a:buClr>
              <a:buSzPts val="1500"/>
              <a:buFont typeface="Arial"/>
              <a:buNone/>
            </a:pPr>
            <a:r>
              <a:rPr lang="en-US" sz="1500">
                <a:solidFill>
                  <a:srgbClr val="655E55"/>
                </a:solidFill>
              </a:rPr>
              <a:t>The project successfully delivers a working Restaurant Management System that combines customer services, administrative controls and secure payment functionality within one Flask application.</a:t>
            </a:r>
            <a:endParaRPr b="0" i="0" sz="1500" u="none" cap="none" strike="noStrike">
              <a:solidFill>
                <a:schemeClr val="dk1"/>
              </a:solidFill>
              <a:latin typeface="Arial"/>
              <a:ea typeface="Arial"/>
              <a:cs typeface="Arial"/>
              <a:sym typeface="Arial"/>
            </a:endParaRPr>
          </a:p>
        </p:txBody>
      </p:sp>
      <p:sp>
        <p:nvSpPr>
          <p:cNvPr id="248" name="Google Shape;248;p18"/>
          <p:cNvSpPr txBox="1"/>
          <p:nvPr>
            <p:ph idx="4294967295" type="sldNum"/>
          </p:nvPr>
        </p:nvSpPr>
        <p:spPr>
          <a:xfrm>
            <a:off x="11475720"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645B"/>
                </a:solidFill>
                <a:latin typeface="Arial"/>
                <a:ea typeface="Arial"/>
                <a:cs typeface="Arial"/>
                <a:sym typeface="Arial"/>
              </a:rPr>
              <a:t>‹#›</a:t>
            </a:fld>
            <a:endParaRPr b="0" i="0" sz="800" u="none" cap="none" strike="noStrike">
              <a:solidFill>
                <a:srgbClr val="6B645B"/>
              </a:solidFill>
              <a:latin typeface="Arial"/>
              <a:ea typeface="Arial"/>
              <a:cs typeface="Arial"/>
              <a:sym typeface="Arial"/>
            </a:endParaRPr>
          </a:p>
        </p:txBody>
      </p:sp>
      <p:sp>
        <p:nvSpPr>
          <p:cNvPr id="249" name="Google Shape;249;p18"/>
          <p:cNvSpPr txBox="1"/>
          <p:nvPr/>
        </p:nvSpPr>
        <p:spPr>
          <a:xfrm>
            <a:off x="713225" y="2182150"/>
            <a:ext cx="6193200" cy="227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What We Delivered</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Customer registration and JWT-based authentication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Reservation amendment and cancellation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Customer menu and basket functionality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Stripe payment processing and order history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Administrative menu management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MySQL database integration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Docker and Kubernetes deployment files</a:t>
            </a:r>
            <a:endParaRPr sz="1100">
              <a:solidFill>
                <a:schemeClr val="dk1"/>
              </a:solidFill>
            </a:endParaRPr>
          </a:p>
          <a:p>
            <a:pPr indent="0" lvl="0" marL="0" rtl="0" algn="l">
              <a:spcBef>
                <a:spcPts val="1200"/>
              </a:spcBef>
              <a:spcAft>
                <a:spcPts val="0"/>
              </a:spcAft>
              <a:buNone/>
            </a:pPr>
            <a:r>
              <a:t/>
            </a:r>
            <a:endParaRPr sz="1250">
              <a:solidFill>
                <a:srgbClr val="1C1B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9"/>
          <p:cNvSpPr txBox="1"/>
          <p:nvPr/>
        </p:nvSpPr>
        <p:spPr>
          <a:xfrm>
            <a:off x="601100" y="601100"/>
            <a:ext cx="10939800" cy="560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1C1B1A"/>
              </a:buClr>
              <a:buSzPts val="2600"/>
              <a:buFont typeface="Play"/>
              <a:buNone/>
            </a:pPr>
            <a:r>
              <a:rPr b="1" lang="en-US" sz="15000">
                <a:solidFill>
                  <a:schemeClr val="lt1"/>
                </a:solidFill>
                <a:latin typeface="Play"/>
                <a:ea typeface="Play"/>
                <a:cs typeface="Play"/>
                <a:sym typeface="Play"/>
              </a:rPr>
              <a:t>DEMO</a:t>
            </a:r>
            <a:endParaRPr sz="15000">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